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41075610ce4ab3" /><Relationship Type="http://schemas.openxmlformats.org/officeDocument/2006/relationships/extended-properties" Target="/docProps/app.xml" Id="R6d09f55ddfe34530" /><Relationship Type="http://schemas.openxmlformats.org/officeDocument/2006/relationships/officeDocument" Target="/ppt/presentation.xml" Id="Rd89e9991bd744f9b" /></Relationships>
</file>

<file path=ppt/presentation.xml><?xml version="1.0" encoding="utf-8"?>
<p:presentation xmlns:p="http://schemas.openxmlformats.org/presentationml/2006/main">
  <p:sldMasterIdLst>
    <p:sldMasterId xmlns:r="http://schemas.openxmlformats.org/officeDocument/2006/relationships" id="2147483648" r:id="R288cba0f64224273"/>
  </p:sldMasterIdLst>
  <p:notesMasterIdLst>
    <p:notesMasterId xmlns:r="http://schemas.openxmlformats.org/officeDocument/2006/relationships" r:id="Ra93cc5369d87478f"/>
  </p:notesMasterIdLst>
  <p:sldIdLst>
    <p:sldId xmlns:r="http://schemas.openxmlformats.org/officeDocument/2006/relationships" id="256" r:id="Rf259577de1a049ff"/>
    <p:sldId xmlns:r="http://schemas.openxmlformats.org/officeDocument/2006/relationships" id="257" r:id="Re9abc0c54fc44e27"/>
    <p:sldId xmlns:r="http://schemas.openxmlformats.org/officeDocument/2006/relationships" id="258" r:id="Rcd5c37b2fe584425"/>
    <p:sldId xmlns:r="http://schemas.openxmlformats.org/officeDocument/2006/relationships" id="259" r:id="Rae3eda188b0f4207"/>
    <p:sldId xmlns:r="http://schemas.openxmlformats.org/officeDocument/2006/relationships" id="260" r:id="R18ac72bc65ea433a"/>
    <p:sldId xmlns:r="http://schemas.openxmlformats.org/officeDocument/2006/relationships" id="261" r:id="Re0597665f8b8401c"/>
    <p:sldId xmlns:r="http://schemas.openxmlformats.org/officeDocument/2006/relationships" id="262" r:id="R51a13e7c46db49d5"/>
    <p:sldId xmlns:r="http://schemas.openxmlformats.org/officeDocument/2006/relationships" id="263" r:id="Rf943b6f5917f49fd"/>
    <p:sldId xmlns:r="http://schemas.openxmlformats.org/officeDocument/2006/relationships" id="264" r:id="R142ce466b1aa4549"/>
    <p:sldId xmlns:r="http://schemas.openxmlformats.org/officeDocument/2006/relationships" id="265" r:id="Ra3dc32c5171f45e5"/>
    <p:sldId xmlns:r="http://schemas.openxmlformats.org/officeDocument/2006/relationships" id="266" r:id="R1408b91b1b244dee"/>
    <p:sldId xmlns:r="http://schemas.openxmlformats.org/officeDocument/2006/relationships" id="267" r:id="Rd2b64d46c6454d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0daeefdd0842ee" /><Relationship Type="http://schemas.openxmlformats.org/officeDocument/2006/relationships/slideMaster" Target="/ppt/slideMasters/slideMaster1.xml" Id="R288cba0f64224273" /><Relationship Type="http://schemas.openxmlformats.org/officeDocument/2006/relationships/notesMaster" Target="/ppt/notesMasters/notesMaster1.xml" Id="Ra93cc5369d87478f" /><Relationship Type="http://schemas.openxmlformats.org/officeDocument/2006/relationships/presProps" Target="/ppt/presProps.xml" Id="Rfb8185bc45064e46" /><Relationship Type="http://schemas.openxmlformats.org/officeDocument/2006/relationships/tableStyles" Target="/ppt/tableStyles.xml" Id="Rf3673965c4ec4fac" /><Relationship Type="http://schemas.openxmlformats.org/officeDocument/2006/relationships/slide" Target="/ppt/slides/slide1.xml" Id="Rf259577de1a049ff" /><Relationship Type="http://schemas.openxmlformats.org/officeDocument/2006/relationships/slide" Target="/ppt/slides/slide2.xml" Id="Re9abc0c54fc44e27" /><Relationship Type="http://schemas.openxmlformats.org/officeDocument/2006/relationships/slide" Target="/ppt/slides/slide3.xml" Id="Rcd5c37b2fe584425" /><Relationship Type="http://schemas.openxmlformats.org/officeDocument/2006/relationships/slide" Target="/ppt/slides/slide4.xml" Id="Rae3eda188b0f4207" /><Relationship Type="http://schemas.openxmlformats.org/officeDocument/2006/relationships/slide" Target="/ppt/slides/slide5.xml" Id="R18ac72bc65ea433a" /><Relationship Type="http://schemas.openxmlformats.org/officeDocument/2006/relationships/slide" Target="/ppt/slides/slide6.xml" Id="Re0597665f8b8401c" /><Relationship Type="http://schemas.openxmlformats.org/officeDocument/2006/relationships/slide" Target="/ppt/slides/slide7.xml" Id="R51a13e7c46db49d5" /><Relationship Type="http://schemas.openxmlformats.org/officeDocument/2006/relationships/slide" Target="/ppt/slides/slide8.xml" Id="Rf943b6f5917f49fd" /><Relationship Type="http://schemas.openxmlformats.org/officeDocument/2006/relationships/slide" Target="/ppt/slides/slide9.xml" Id="R142ce466b1aa4549" /><Relationship Type="http://schemas.openxmlformats.org/officeDocument/2006/relationships/slide" Target="/ppt/slides/slide10.xml" Id="Ra3dc32c5171f45e5" /><Relationship Type="http://schemas.openxmlformats.org/officeDocument/2006/relationships/slide" Target="/ppt/slides/slide11.xml" Id="R1408b91b1b244dee" /><Relationship Type="http://schemas.openxmlformats.org/officeDocument/2006/relationships/slide" Target="/ppt/slides/slide12.xml" Id="Rd2b64d46c6454d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5353606dd140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851a5787c742f6" /><Relationship Type="http://schemas.openxmlformats.org/officeDocument/2006/relationships/notesMaster" Target="/ppt/notesMasters/notesMaster1.xml" Id="R87699b5d9fc74c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27e602a07a48dd" /><Relationship Type="http://schemas.openxmlformats.org/officeDocument/2006/relationships/notesMaster" Target="/ppt/notesMasters/notesMaster1.xml" Id="R387b0cf2a68045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2a92a79f7d4b73" /><Relationship Type="http://schemas.openxmlformats.org/officeDocument/2006/relationships/notesMaster" Target="/ppt/notesMasters/notesMaster1.xml" Id="R5ba6af33be9a45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67845f99274239" /><Relationship Type="http://schemas.openxmlformats.org/officeDocument/2006/relationships/notesMaster" Target="/ppt/notesMasters/notesMaster1.xml" Id="R6deadd6db87b4b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58be720e584674" /><Relationship Type="http://schemas.openxmlformats.org/officeDocument/2006/relationships/notesMaster" Target="/ppt/notesMasters/notesMaster1.xml" Id="R2d81c9ffe4c444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977db4711344b4" /><Relationship Type="http://schemas.openxmlformats.org/officeDocument/2006/relationships/notesMaster" Target="/ppt/notesMasters/notesMaster1.xml" Id="R1668153f7e8c40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e4b49d488b44c6" /><Relationship Type="http://schemas.openxmlformats.org/officeDocument/2006/relationships/notesMaster" Target="/ppt/notesMasters/notesMaster1.xml" Id="Rb6452808fe3943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d4d04959c04c89" /><Relationship Type="http://schemas.openxmlformats.org/officeDocument/2006/relationships/notesMaster" Target="/ppt/notesMasters/notesMaster1.xml" Id="R37cc70ce231146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df0a592c0b4179" /><Relationship Type="http://schemas.openxmlformats.org/officeDocument/2006/relationships/notesMaster" Target="/ppt/notesMasters/notesMaster1.xml" Id="R25e349634f824c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0cd5b9042f48a2" /><Relationship Type="http://schemas.openxmlformats.org/officeDocument/2006/relationships/notesMaster" Target="/ppt/notesMasters/notesMaster1.xml" Id="Rd8873adcd0fe41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471acd20ef464f" /><Relationship Type="http://schemas.openxmlformats.org/officeDocument/2006/relationships/notesMaster" Target="/ppt/notesMasters/notesMaster1.xml" Id="R91489406265a42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1491b4b1ef49e5" /><Relationship Type="http://schemas.openxmlformats.org/officeDocument/2006/relationships/notesMaster" Target="/ppt/notesMasters/notesMaster1.xml" Id="R9c3f212f02ca4d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Vigil as an original reliability workspace. It combines real public HTTPS checks with incident response, dependency analysis, and recovery tasks. The public project and its delivery evidence are available in the repository. This presentation describes verified behavior and explicitly identifies the EKS gap.</a:t>
            </a:r>
          </a:p>
          <a:p xmlns:a="http://schemas.openxmlformats.org/drawingml/2006/main">
            <a:r>
              <a:t/>
            </a:r>
          </a:p>
          <a:p xmlns:a="http://schemas.openxmlformats.org/drawingml/2006/main">
            <a:r>
              <a:t>Sources</a:t>
            </a:r>
          </a:p>
          <a:p xmlns:a="http://schemas.openxmlformats.org/drawingml/2006/main">
            <a:r>
              <a:t>https://github.com/ReaperXD67/vigil</a:t>
            </a:r>
          </a:p>
          <a:p xmlns:a="http://schemas.openxmlformats.org/drawingml/2006/main">
            <a:r>
              <a:t>https://github.com/ReaperXD67/vigil/blob/main/docs/VERIFICATION.md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organizes the response to a service problem. Registered workspaces can monitor approved public HTTPS endpoints. Public status pages expose only opted-in services and provide copyable SVG status badges with sample and stale-data labels. Incidents keep a factual timeline and connect to remediation tasks. JSON exports and deterministic Markdown postmortems preserve the work. The screenshot contains explicitly labeled demo telemetry.</a:t>
            </a:r>
          </a:p>
          <a:p xmlns:a="http://schemas.openxmlformats.org/drawingml/2006/main">
            <a:r>
              <a:t/>
            </a:r>
          </a:p>
          <a:p xmlns:a="http://schemas.openxmlformats.org/drawingml/2006/main">
            <a:r>
              <a:t>Sources</a:t>
            </a:r>
          </a:p>
          <a:p xmlns:a="http://schemas.openxmlformats.org/drawingml/2006/main">
            <a:r>
              <a:t>https://github.com/ReaperXD67/vigil</a:t>
            </a:r>
          </a:p>
          <a:p xmlns:a="http://schemas.openxmlformats.org/drawingml/2006/main">
            <a:r>
              <a:t>https://github.com/ReaperXD67/vigil/blob/main/docs/VERIFICATION.md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declared connection identifies which service depends on an upstream service. Selecting a service follows the graph to count direct and indirect dependents at the shortest number of hops. Ownership checks keep every connection private. The server rejects self-connections, duplicate edges, and cycles, including concurrent opposite inserts. Production browser checks verified create, reload persistence, removal, and restoration of the original graph. Potential impact does not establish measured failure propagation or root cause.</a:t>
            </a:r>
          </a:p>
          <a:p xmlns:a="http://schemas.openxmlformats.org/drawingml/2006/main">
            <a:r>
              <a:t/>
            </a:r>
          </a:p>
          <a:p xmlns:a="http://schemas.openxmlformats.org/drawingml/2006/main">
            <a:r>
              <a:t>Sources</a:t>
            </a:r>
          </a:p>
          <a:p xmlns:a="http://schemas.openxmlformats.org/drawingml/2006/main">
            <a:r>
              <a:t>https://github.com/ReaperXD67/vigil</a:t>
            </a:r>
          </a:p>
          <a:p xmlns:a="http://schemas.openxmlformats.org/drawingml/2006/main">
            <a:r>
              <a:t>https://github.com/ReaperXD67/vigil/blob/main/docs/VERIFICATION.md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runtime request and data flow. Traefik terminates public HTTPS and routes the static React frontend and /api requests to their services. FastAPI replicas share PostgreSQL for users, sessions, services, incidents, and dependencies. A singleton worker schedules probes. The API and worker validate public destinations before an HTTPS check. PostgreSQL uses a local persistent volume on the EC2 host, so an off-host backup is necessary for host-loss recovery. All components and connectors in this diagram are editable PowerPoint objects.</a:t>
            </a:r>
          </a:p>
          <a:p xmlns:a="http://schemas.openxmlformats.org/drawingml/2006/main">
            <a:r>
              <a:t/>
            </a:r>
          </a:p>
          <a:p xmlns:a="http://schemas.openxmlformats.org/drawingml/2006/main">
            <a:r>
              <a:t>Sources</a:t>
            </a:r>
          </a:p>
          <a:p xmlns:a="http://schemas.openxmlformats.org/drawingml/2006/main">
            <a:r>
              <a:t>https://github.com/ReaperXD67/vigil</a:t>
            </a:r>
          </a:p>
          <a:p xmlns:a="http://schemas.openxmlformats.org/drawingml/2006/main">
            <a:r>
              <a:t>https://github.com/ReaperXD67/vigil/blob/main/docs/VERIFICATION.md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stack separates product code from deployment. FastAPI uses SQLAlchemy and Alembic with PostgreSQL in production and isolated SQLite tests. React and TypeScript build with Vite and serve through a nonroot Nginx container. The interaction layer uses original WebGL geometry, Motion, GSAP, and Lenis with keyboard and reduced-motion controls. GitHub Actions builds and scans immutable images. Terraform and Helm reproduce the AWS and Kubernetes definitions.</a:t>
            </a:r>
          </a:p>
          <a:p xmlns:a="http://schemas.openxmlformats.org/drawingml/2006/main">
            <a:r>
              <a:t/>
            </a:r>
          </a:p>
          <a:p xmlns:a="http://schemas.openxmlformats.org/drawingml/2006/main">
            <a:r>
              <a:t>Sources</a:t>
            </a:r>
          </a:p>
          <a:p xmlns:a="http://schemas.openxmlformats.org/drawingml/2006/main">
            <a:r>
              <a:t>https://github.com/ReaperXD67/vigil</a:t>
            </a:r>
          </a:p>
          <a:p xmlns:a="http://schemas.openxmlformats.org/drawingml/2006/main">
            <a:r>
              <a:t>https://github.com/ReaperXD67/vigil/blob/main/docs/VERIFICATION.md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CI-verified source contains 128 automated checks: 94 backend tests, 24 frontend tests, and 10 offline AWS spending-guard tests. API cases include authentication, ownership, SSRF controls, graph cycles, cascade deletion, concurrent opposite inserts, and public-badge privacy and stale-data handling. Frontend tests cover API-client behavior, graph traversal, and particle projection. CI additionally applies and rolls back all PostgreSQL migrations, then checks actual container restart persistence through Nginx.</a:t>
            </a:r>
          </a:p>
          <a:p xmlns:a="http://schemas.openxmlformats.org/drawingml/2006/main">
            <a:r>
              <a:t/>
            </a:r>
          </a:p>
          <a:p xmlns:a="http://schemas.openxmlformats.org/drawingml/2006/main">
            <a:r>
              <a:t>Sources</a:t>
            </a:r>
          </a:p>
          <a:p xmlns:a="http://schemas.openxmlformats.org/drawingml/2006/main">
            <a:r>
              <a:t>https://github.com/ReaperXD67/vigil/actions/runs/38908236938</a:t>
            </a:r>
          </a:p>
          <a:p xmlns:a="http://schemas.openxmlformats.org/drawingml/2006/main">
            <a:r>
              <a:t>https://github.com/ReaperXD67/vigil/blob/main/docs/VERIFICATION.md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push to main runs backend tests, frontend build and tests, and PostgreSQL migrations. The container job waits for all three, builds the actual runtime images, starts the full Compose stack, verifies nonroot user IDs and persistence through a backend restart, and scans both images. Trivy v0.76.0 includes operating-system and runtime dependencies, fails on HIGH or CRITICAL findings including unfixed issues, and uses no vulnerability exclusions. Only successful gates publish full-commit-SHA images to GHCR. Zero matching findings describes the scan at that time, not a vulnerability-free guarantee.</a:t>
            </a:r>
          </a:p>
          <a:p xmlns:a="http://schemas.openxmlformats.org/drawingml/2006/main">
            <a:r>
              <a:t/>
            </a:r>
          </a:p>
          <a:p xmlns:a="http://schemas.openxmlformats.org/drawingml/2006/main">
            <a:r>
              <a:t>Sources</a:t>
            </a:r>
          </a:p>
          <a:p xmlns:a="http://schemas.openxmlformats.org/drawingml/2006/main">
            <a:r>
              <a:t>https://github.com/ReaperXD67/vigil/actions/runs/38908236938</a:t>
            </a:r>
          </a:p>
          <a:p xmlns:a="http://schemas.openxmlformats.org/drawingml/2006/main">
            <a:r>
              <a:t>https://github.com/ReaperXD67/vigil/blob/main/docs/VERIFICATION.md</a:t>
            </a:r>
          </a:p>
          <a:p xmlns:a="http://schemas.openxmlformats.org/drawingml/2006/main">
            <a:r>
              <a:t>https://github.com/ReaperXD67/vigil/blob/main/.github/workflows/ci.yml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running public product uses one EC2 t3.small instance in Mumbai with K3s, a 20 GiB encrypted root volume, an Elastic IP, and SSM administration. The AWS Console capture shows the real Vigil VPC with public subnets in two availability zones and an Internet Gateway; the application still runs on one host. A guard requires the actual account plan to be FREE and ACTIVE with positive finite USD credit before provisioning or deployment. Paid accounts are rejected even if promotional credits remain. Temporary larger capacity supported monitoring and recovery, then returned to the budget host. The EKS source exists but EKS apply, node-group provisioning, and destroy evidence remain unverified because the authorization forbids upgrading the account or paid EKS services.</a:t>
            </a:r>
          </a:p>
          <a:p xmlns:a="http://schemas.openxmlformats.org/drawingml/2006/main">
            <a:r>
              <a:t/>
            </a:r>
          </a:p>
          <a:p xmlns:a="http://schemas.openxmlformats.org/drawingml/2006/main">
            <a:r>
              <a:t>Sources</a:t>
            </a:r>
          </a:p>
          <a:p xmlns:a="http://schemas.openxmlformats.org/drawingml/2006/main">
            <a:r>
              <a:t>https://github.com/ReaperXD67/vigil/blob/main/docs/VERIFICATION.md</a:t>
            </a:r>
          </a:p>
          <a:p xmlns:a="http://schemas.openxmlformats.org/drawingml/2006/main">
            <a:r>
              <a:t>https://github.com/ReaperXD67/vigil/blob/main/demo/evidence/aws-vpc-console.jpg</a:t>
            </a:r>
          </a:p>
          <a:p xmlns:a="http://schemas.openxmlformats.org/drawingml/2006/main">
            <a:r>
              <a:t>https://github.com/ReaperXD67/vigil/blob/main/AGENTS.md</a:t>
            </a:r>
          </a:p>
          <a:p xmlns:a="http://schemas.openxmlformats.org/drawingml/2006/main">
            <a:r>
              <a:t>https://github.com/ReaperXD67/vigil/blob/main/docs/DEPLOYMENT.md</a:t>
            </a:r>
          </a:p>
          <a:p xmlns:a="http://schemas.openxmlformats.org/drawingml/2006/main">
            <a:r>
              <a:t>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runs two backend replicas, two frontend replicas, and one scheduled worker. PostgreSQL migrations gate application rollout. A previous surge update exhausted headroom and mixed frontend assets across versions. The deployed fix uses Recreate for the frontend and zero-surge rolling updates for the API, trading a bounded frontend interruption for consistent assets and lower peak memory. A route error boundary handles failed lazy chunks and render exceptions. The bounded HPA load exercise on 15 October 2026 scaled from two to four replicas and naturally recovered to two. Six readiness samples on t3.small passed with 543 to 569 MiB memory available and unchanged restart counts. The 16 October application release subsequently passed health and database readiness with two API and two frontend replicas ready.</a:t>
            </a:r>
          </a:p>
          <a:p xmlns:a="http://schemas.openxmlformats.org/drawingml/2006/main">
            <a:r>
              <a:t/>
            </a:r>
          </a:p>
          <a:p xmlns:a="http://schemas.openxmlformats.org/drawingml/2006/main">
            <a:r>
              <a:t>Sources</a:t>
            </a:r>
          </a:p>
          <a:p xmlns:a="http://schemas.openxmlformats.org/drawingml/2006/main">
            <a:r>
              <a:t>https://github.com/ReaperXD67/vigil/blob/main/docs/VERIFICATION.md</a:t>
            </a:r>
          </a:p>
          <a:p xmlns:a="http://schemas.openxmlformats.org/drawingml/2006/main">
            <a:r>
              <a:t>https://github.com/ReaperXD67/vigil/blob/main/docs/OPERATIONS.md</a:t>
            </a:r>
          </a:p>
          <a:p xmlns:a="http://schemas.openxmlformats.org/drawingml/2006/main">
            <a:r>
              <a:t>https://github.com/ReaperXD67/vigil/tree/main/helm/vigil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Argo CD reconciled a real Git promotion in an isolated preview namespace. The baseline Git revision dbe40442 used application images 49b1aa3. Commit 33f8e1f4e01e68a52922dcf4fd6f3e77edfe47af promoted both application images to the CI-verified dbe40442fc324ea1393e121a65887ee697131619. Automatic sync ran from 13:37:27 to 13:37:42 UTC on 16 October 2026 and finished Synced, Healthy, and Succeeded. No manual Helm deployment or manual sync performed the promotion. One API and one frontend replica became ready, with Alembic revision c5f6d1a2b390. The preview used an isolated database and did not change production's Helm ownership. Git revision and application-image revision are different identifiers.</a:t>
            </a:r>
          </a:p>
          <a:p xmlns:a="http://schemas.openxmlformats.org/drawingml/2006/main">
            <a:r>
              <a:t/>
            </a:r>
          </a:p>
          <a:p xmlns:a="http://schemas.openxmlformats.org/drawingml/2006/main">
            <a:r>
              <a:t>Sources</a:t>
            </a:r>
          </a:p>
          <a:p xmlns:a="http://schemas.openxmlformats.org/drawingml/2006/main">
            <a:r>
              <a:t>https://github.com/ReaperXD67/vigil</a:t>
            </a:r>
          </a:p>
          <a:p xmlns:a="http://schemas.openxmlformats.org/drawingml/2006/main">
            <a:r>
              <a:t>https://github.com/ReaperXD67/vigil/tree/main/gitops</a:t>
            </a:r>
          </a:p>
          <a:p xmlns:a="http://schemas.openxmlformats.org/drawingml/2006/main">
            <a:r>
              <a:t>https://github.com/ReaperXD67/vigil/blob/main/demo/evidence/argocd-promoted.png</a:t>
            </a:r>
          </a:p>
          <a:p xmlns:a="http://schemas.openxmlformats.org/drawingml/2006/main">
            <a:r>
              <a:t>https://github.com/ReaperXD67/vigil/commit/33f8e1f4e01e68a52922dcf4fd6f3e77edfe47af</a:t>
            </a:r>
          </a:p>
          <a:p xmlns:a="http://schemas.openxmlformats.org/drawingml/2006/main">
            <a:r>
              <a:t>https://github.com/ReaperXD67/vigil/blob/main/demo/evidence/gitops-promoted.txt</a:t>
            </a:r>
          </a:p>
          <a:p xmlns:a="http://schemas.openxmlformats.org/drawingml/2006/main">
            <a:r>
              <a:t>https://github.com/Nency-Ravaliya/devsecops-python/blob/main/SUBMISSION.md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fresh AWS capture on 16 October 2026 shows two healthy API targets, populated request-rate and p95-latency charts, and an HTTP 5xx ratio with a corrected 0 to 100 percent scale. Prometheus separately reported both API targets and the worker target UP with no scrape errors. The recorded query at 13:46:23 UTC returned approximately 0.413 requests per second and 9.61 milliseconds p95 latency; these are point-in-time demonstration observations, not performance guarantees. Dashboard configuration also includes checks, replica counts, and pod memory. Grafana used the corrected 512 MiB memory limit. Monitoring ran as a bounded private exercise on temporary capacity, accessible through an SSM tunnel. Continuous Grafana hosting is not promised.</a:t>
            </a:r>
          </a:p>
          <a:p xmlns:a="http://schemas.openxmlformats.org/drawingml/2006/main">
            <a:r>
              <a:t/>
            </a:r>
          </a:p>
          <a:p xmlns:a="http://schemas.openxmlformats.org/drawingml/2006/main">
            <a:r>
              <a:t>Sources</a:t>
            </a:r>
          </a:p>
          <a:p xmlns:a="http://schemas.openxmlformats.org/drawingml/2006/main">
            <a:r>
              <a:t>https://github.com/ReaperXD67/vigil/blob/main/docs/VERIFICATION.md</a:t>
            </a:r>
          </a:p>
          <a:p xmlns:a="http://schemas.openxmlformats.org/drawingml/2006/main">
            <a:r>
              <a:t>https://github.com/ReaperXD67/vigil/blob/main/demo/evidence/grafana-live.png</a:t>
            </a:r>
          </a:p>
          <a:p xmlns:a="http://schemas.openxmlformats.org/drawingml/2006/main">
            <a:r>
              <a:t>https://github.com/ReaperXD67/vigil/blob/main/demo/evidence/monitoring-live.json</a:t>
            </a:r>
          </a:p>
          <a:p xmlns:a="http://schemas.openxmlformats.org/drawingml/2006/main">
            <a:r>
              <a:t>https://github.com/ReaperXD67/vigil/blob/main/monitoring/README.md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taught three concrete lessons. Small hosts require control of rollout peak memory, not just steady-state resource requests. The application must preserve session and database state across restarts and provide recovery when asset loading fails. Evidence should distinguish source configuration, a successful CI run, a deployed image, and an observed user workflow. EKS provisioning and teardown remain the explicit rubric gap. Product limitations include a single host, finite Free-plan credits, no email recovery or team invitations, and deterministic rather than AI-generated postmortems. The live demo and public repository allow the grader to inspect the actual system.</a:t>
            </a:r>
          </a:p>
          <a:p xmlns:a="http://schemas.openxmlformats.org/drawingml/2006/main">
            <a:r>
              <a:t/>
            </a:r>
          </a:p>
          <a:p xmlns:a="http://schemas.openxmlformats.org/drawingml/2006/main">
            <a:r>
              <a:t>Sources</a:t>
            </a:r>
          </a:p>
          <a:p xmlns:a="http://schemas.openxmlformats.org/drawingml/2006/main">
            <a:r>
              <a:t>https://github.com/ReaperXD67/vigil/blob/main/docs/VERIFICATION.md</a:t>
            </a:r>
          </a:p>
          <a:p xmlns:a="http://schemas.openxmlformats.org/drawingml/2006/main">
            <a:r>
              <a:t>https://github.com/ReaperXD67/vigil</a:t>
            </a:r>
          </a:p>
          <a:p xmlns:a="http://schemas.openxmlformats.org/drawingml/2006/main">
            <a:r>
              <a:t>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d35825e83f47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c93172d78a40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65de2dba9247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72ecf464e842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156a3676d04b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403b003c9b41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DBF7B1-75B9-4900-8CC8-BC9590BA72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93926E-CA9E-4322-95F0-BD1204F256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51716E-C9D2-4122-A892-25A43C5C8E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2236C8-5595-49E5-883D-490AE8526D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D7BF65-7BA2-46B6-850B-3A6EA6AB4E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2ABDCF-81CA-465D-9D03-9E3EEFD0DF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4C694F-7D3B-451A-898F-1A1C24762C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87CB0D-50E9-4EAD-90CE-4C69DBD17E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596C3A-7212-4A24-B807-1042BA9589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C62694-15F4-471F-97DA-0ED1E2588A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d7315f574d4448" /><Relationship Type="http://schemas.openxmlformats.org/officeDocument/2006/relationships/slideLayout" Target="/ppt/slideLayouts/slideLayout1.xml" Id="R34256d285dff4859" /><Relationship Type="http://schemas.openxmlformats.org/officeDocument/2006/relationships/slideLayout" Target="/ppt/slideLayouts/slideLayout2.xml" Id="R75cf1df08ba44faa" /><Relationship Type="http://schemas.openxmlformats.org/officeDocument/2006/relationships/slideLayout" Target="/ppt/slideLayouts/slideLayout3.xml" Id="R38ed767c58804d7f" /><Relationship Type="http://schemas.openxmlformats.org/officeDocument/2006/relationships/slideLayout" Target="/ppt/slideLayouts/slideLayout4.xml" Id="Rf5df633fc9de4858" /><Relationship Type="http://schemas.openxmlformats.org/officeDocument/2006/relationships/slideLayout" Target="/ppt/slideLayouts/slideLayout5.xml" Id="R5c2de0a02a834889" /><Relationship Type="http://schemas.openxmlformats.org/officeDocument/2006/relationships/slideLayout" Target="/ppt/slideLayouts/slideLayout6.xml" Id="R1891a7f5dc3a4a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256d285dff4859"/>
    <p:sldLayoutId xmlns:r="http://schemas.openxmlformats.org/officeDocument/2006/relationships" id="2147483650" r:id="R75cf1df08ba44faa"/>
    <p:sldLayoutId xmlns:r="http://schemas.openxmlformats.org/officeDocument/2006/relationships" id="2147483651" r:id="R38ed767c58804d7f"/>
    <p:sldLayoutId xmlns:r="http://schemas.openxmlformats.org/officeDocument/2006/relationships" id="2147483652" r:id="Rf5df633fc9de4858"/>
    <p:sldLayoutId xmlns:r="http://schemas.openxmlformats.org/officeDocument/2006/relationships" id="2147483653" r:id="R5c2de0a02a834889"/>
    <p:sldLayoutId xmlns:r="http://schemas.openxmlformats.org/officeDocument/2006/relationships" id="2147483654" r:id="R1891a7f5dc3a4a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08ef7ea2374726" /><Relationship Type="http://schemas.openxmlformats.org/officeDocument/2006/relationships/image" Target="/ppt/media/image.png" Id="Rcf0fe6197cac4864" /><Relationship Type="http://schemas.openxmlformats.org/officeDocument/2006/relationships/notesSlide" Target="/ppt/notesSlides/notesSlide1.xml" Id="Rb9369f39a45840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f5ff6448ef4421" /><Relationship Type="http://schemas.openxmlformats.org/officeDocument/2006/relationships/image" Target="/ppt/media/image2.png" Id="R02e8e5e3287646ca" /><Relationship Type="http://schemas.openxmlformats.org/officeDocument/2006/relationships/notesSlide" Target="/ppt/notesSlides/notesSlide2.xml" Id="Rc209b545695a49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209b5c686245cb" /><Relationship Type="http://schemas.openxmlformats.org/officeDocument/2006/relationships/image" Target="/ppt/media/image3.png" Id="R0a4f73dfb18943da" /><Relationship Type="http://schemas.openxmlformats.org/officeDocument/2006/relationships/notesSlide" Target="/ppt/notesSlides/notesSlide3.xml" Id="R3d41b7267a264f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f891d814564596" /><Relationship Type="http://schemas.openxmlformats.org/officeDocument/2006/relationships/notesSlide" Target="/ppt/notesSlides/notesSlide4.xml" Id="R83e2a579be6342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b8077a34e54f6c" /><Relationship Type="http://schemas.openxmlformats.org/officeDocument/2006/relationships/notesSlide" Target="/ppt/notesSlides/notesSlide5.xml" Id="R349442585fc743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6a6c89308e4b64" /><Relationship Type="http://schemas.openxmlformats.org/officeDocument/2006/relationships/notesSlide" Target="/ppt/notesSlides/notesSlide6.xml" Id="R33f49b4c888a4e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5b525b94a44c23" /><Relationship Type="http://schemas.openxmlformats.org/officeDocument/2006/relationships/notesSlide" Target="/ppt/notesSlides/notesSlide7.xml" Id="Rc7280357f30a41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56634e3d654d2a" /><Relationship Type="http://schemas.openxmlformats.org/officeDocument/2006/relationships/image" Target="/ppt/media/image.jpeg" Id="R5b4467c60ae94217" /><Relationship Type="http://schemas.openxmlformats.org/officeDocument/2006/relationships/notesSlide" Target="/ppt/notesSlides/notesSlide8.xml" Id="R01e7129b4b7240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a036220cba43e5" /><Relationship Type="http://schemas.openxmlformats.org/officeDocument/2006/relationships/notesSlide" Target="/ppt/notesSlides/notesSlide9.xml" Id="R541113cb26e64f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0fa78b27a94cd7" /><Relationship Type="http://schemas.openxmlformats.org/officeDocument/2006/relationships/notesSlide" Target="/ppt/notesSlides/notesSlide10.xml" Id="Rcf05348011724e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0e4d1449ce54734" /><Relationship Type="http://schemas.openxmlformats.org/officeDocument/2006/relationships/image" Target="/ppt/media/image4.png" Id="R39fc422cfd994be4" /><Relationship Type="http://schemas.openxmlformats.org/officeDocument/2006/relationships/notesSlide" Target="/ppt/notesSlides/notesSlide11.xml" Id="Rb1d25d48567047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98d26ad40034c04" /><Relationship Type="http://schemas.openxmlformats.org/officeDocument/2006/relationships/notesSlide" Target="/ppt/notesSlides/notesSlide12.xml" Id="R3545034da6df4806" /></Relationships>
</file>

<file path=ppt/slides/slide1.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7E3E5863-34C1-45AD-A918-95C4B5CCC4FF}"/>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01</a:t>
            </a:r>
          </a:p>
        </p:txBody>
      </p:sp>
      <p:pic>
        <p:nvPicPr>
          <p:cNvPr id="2" name="">
            <a:extLst xmlns:a="http://schemas.openxmlformats.org/drawingml/2006/main">
              <a:ext uri="{FF2B5EF4-FFF2-40B4-BE49-F238E27FC236}">
                <a16:creationId xmlns:a16="http://schemas.microsoft.com/office/drawing/2014/main" id="{D7D4D754-C843-4EA2-81D3-90FAF62790CC}"/>
              </a:ext>
            </a:extLst>
          </p:cNvPr>
          <p:cNvPicPr>
            <a:picLocks xmlns:a="http://schemas.openxmlformats.org/drawingml/2006/main" noChangeAspect="1"/>
          </p:cNvPicPr>
          <p:nvPr/>
        </p:nvPicPr>
        <p:blipFill>
          <a:blip xmlns:r="http://schemas.openxmlformats.org/officeDocument/2006/relationships" xmlns:a="http://schemas.openxmlformats.org/drawingml/2006/main" r:embed="Rcf0fe6197cac4864"/>
          <a:srcRect xmlns:a="http://schemas.openxmlformats.org/drawingml/2006/main" l="34000" t="39000" r="34000" b="21000"/>
          <a:stretch xmlns:a="http://schemas.openxmlformats.org/drawingml/2006/main"/>
        </p:blipFill>
        <p:spPr>
          <a:xfrm xmlns:a="http://schemas.openxmlformats.org/drawingml/2006/main">
            <a:off x="5905500" y="952500"/>
            <a:ext cx="5676900" cy="4953000"/>
          </a:xfrm>
          <a:prstGeom xmlns:a="http://schemas.openxmlformats.org/drawingml/2006/main" prst="rect">
            <a:avLst/>
          </a:prstGeom>
        </p:spPr>
      </p:pic>
      <p:sp>
        <p:nvSpPr>
          <p:cNvPr id="3" name="VIGIL">
            <a:extLst xmlns:a="http://schemas.openxmlformats.org/drawingml/2006/main">
              <a:ext uri="{FF2B5EF4-FFF2-40B4-BE49-F238E27FC236}">
                <a16:creationId xmlns:a16="http://schemas.microsoft.com/office/drawing/2014/main" id="{4AFE9765-A3F7-4A48-9F83-D14F9B61895D}"/>
              </a:ext>
            </a:extLst>
          </p:cNvPr>
          <p:cNvSpPr>
            <a:spLocks xmlns:a="http://schemas.openxmlformats.org/drawingml/2006/main" noGrp="1"/>
          </p:cNvSpPr>
          <p:nvPr/>
        </p:nvSpPr>
        <p:spPr>
          <a:xfrm xmlns:a="http://schemas.openxmlformats.org/drawingml/2006/main">
            <a:off x="609600" y="1676400"/>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100" b="1">
                <a:solidFill>
                  <a:srgbClr val="B5DFFF"/>
                </a:solidFill>
                <a:latin typeface="Geist"/>
                <a:ea typeface="Geist"/>
                <a:cs typeface="Geist"/>
              </a:defRPr>
            </a:defPPr>
          </a:lstStyle>
          <a:p xmlns:a="http://schemas.openxmlformats.org/drawingml/2006/main">
            <a:pPr>
              <a:defRPr sz="8100" b="1">
                <a:solidFill>
                  <a:srgbClr val="B5DFFF"/>
                </a:solidFill>
                <a:latin typeface="Geist"/>
                <a:ea typeface="Geist"/>
                <a:cs typeface="Geist"/>
              </a:defRPr>
            </a:pPr>
            <a:r>
              <a:rPr sz="8100" b="1">
                <a:solidFill>
                  <a:srgbClr val="B5DFFF"/>
                </a:solidFill>
                <a:latin typeface="Geist"/>
                <a:ea typeface="Geist"/>
                <a:cs typeface="Geist"/>
              </a:rPr>
              <a:t>VIGIL</a:t>
            </a:r>
          </a:p>
        </p:txBody>
      </p:sp>
      <p:sp>
        <p:nvSpPr>
          <p:cNvPr id="4" name="An open-source&#10;reliability workspace">
            <a:extLst xmlns:a="http://schemas.openxmlformats.org/drawingml/2006/main">
              <a:ext uri="{FF2B5EF4-FFF2-40B4-BE49-F238E27FC236}">
                <a16:creationId xmlns:a16="http://schemas.microsoft.com/office/drawing/2014/main" id="{BDEF8BD4-5BD1-436A-9F75-4D8F20604C15}"/>
              </a:ext>
            </a:extLst>
          </p:cNvPr>
          <p:cNvSpPr>
            <a:spLocks xmlns:a="http://schemas.openxmlformats.org/drawingml/2006/main" noGrp="1"/>
          </p:cNvSpPr>
          <p:nvPr/>
        </p:nvSpPr>
        <p:spPr>
          <a:xfrm xmlns:a="http://schemas.openxmlformats.org/drawingml/2006/main">
            <a:off x="647700" y="323850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EAF4FC"/>
                </a:solidFill>
                <a:latin typeface="Geist"/>
                <a:ea typeface="Geist"/>
                <a:cs typeface="Geist"/>
              </a:defRPr>
            </a:defPPr>
          </a:lstStyle>
          <a:p xmlns:a="http://schemas.openxmlformats.org/drawingml/2006/main">
            <a:pPr>
              <a:defRPr sz="2925" b="0">
                <a:solidFill>
                  <a:srgbClr val="EAF4FC"/>
                </a:solidFill>
                <a:latin typeface="Geist"/>
                <a:ea typeface="Geist"/>
                <a:cs typeface="Geist"/>
              </a:defRPr>
            </a:pPr>
            <a:r>
              <a:rPr sz="2925" b="0">
                <a:solidFill>
                  <a:srgbClr val="EAF4FC"/>
                </a:solidFill>
                <a:latin typeface="Geist"/>
                <a:ea typeface="Geist"/>
                <a:cs typeface="Geist"/>
              </a:rPr>
              <a:t>An open-source</a:t>
            </a:r>
          </a:p>
          <a:p xmlns:a="http://schemas.openxmlformats.org/drawingml/2006/main">
            <a:pPr>
              <a:defRPr sz="2925" b="0">
                <a:solidFill>
                  <a:srgbClr val="EAF4FC"/>
                </a:solidFill>
                <a:latin typeface="Geist"/>
                <a:ea typeface="Geist"/>
                <a:cs typeface="Geist"/>
              </a:defRPr>
            </a:pPr>
            <a:r>
              <a:rPr sz="2925" b="0">
                <a:solidFill>
                  <a:srgbClr val="EAF4FC"/>
                </a:solidFill>
                <a:latin typeface="Geist"/>
                <a:ea typeface="Geist"/>
                <a:cs typeface="Geist"/>
              </a:rPr>
              <a:t>reliability workspace</a:t>
            </a:r>
          </a:p>
        </p:txBody>
      </p:sp>
      <p:sp>
        <p:nvSpPr>
          <p:cNvPr id="5" name="Aman Kumar&#10;DevSecOps capstone&#10;16 October 2026">
            <a:extLst xmlns:a="http://schemas.openxmlformats.org/drawingml/2006/main">
              <a:ext uri="{FF2B5EF4-FFF2-40B4-BE49-F238E27FC236}">
                <a16:creationId xmlns:a16="http://schemas.microsoft.com/office/drawing/2014/main" id="{BBBB2153-2E1D-480C-BD7B-1F9836D11C4A}"/>
              </a:ext>
            </a:extLst>
          </p:cNvPr>
          <p:cNvSpPr>
            <a:spLocks xmlns:a="http://schemas.openxmlformats.org/drawingml/2006/main" noGrp="1"/>
          </p:cNvSpPr>
          <p:nvPr/>
        </p:nvSpPr>
        <p:spPr>
          <a:xfrm xmlns:a="http://schemas.openxmlformats.org/drawingml/2006/main">
            <a:off x="647700" y="535305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CABBB"/>
                </a:solidFill>
                <a:latin typeface="Geist"/>
                <a:ea typeface="Geist"/>
                <a:cs typeface="Geist"/>
              </a:defRPr>
            </a:defPPr>
          </a:lstStyle>
          <a:p xmlns:a="http://schemas.openxmlformats.org/drawingml/2006/main">
            <a:pPr>
              <a:defRPr sz="1800" b="0">
                <a:solidFill>
                  <a:srgbClr val="9CABBB"/>
                </a:solidFill>
                <a:latin typeface="Geist"/>
                <a:ea typeface="Geist"/>
                <a:cs typeface="Geist"/>
              </a:defRPr>
            </a:pPr>
            <a:r>
              <a:rPr sz="1800" b="0">
                <a:solidFill>
                  <a:srgbClr val="9CABBB"/>
                </a:solidFill>
                <a:latin typeface="Geist"/>
                <a:ea typeface="Geist"/>
                <a:cs typeface="Geist"/>
              </a:rPr>
              <a:t>Aman Kumar</a:t>
            </a:r>
          </a:p>
          <a:p xmlns:a="http://schemas.openxmlformats.org/drawingml/2006/main">
            <a:pPr>
              <a:defRPr sz="1800" b="0">
                <a:solidFill>
                  <a:srgbClr val="9CABBB"/>
                </a:solidFill>
                <a:latin typeface="Geist"/>
                <a:ea typeface="Geist"/>
                <a:cs typeface="Geist"/>
              </a:defRPr>
            </a:pPr>
            <a:r>
              <a:rPr sz="1800" b="0">
                <a:solidFill>
                  <a:srgbClr val="9CABBB"/>
                </a:solidFill>
                <a:latin typeface="Geist"/>
                <a:ea typeface="Geist"/>
                <a:cs typeface="Geist"/>
              </a:rPr>
              <a:t>DevSecOps capstone</a:t>
            </a:r>
          </a:p>
          <a:p xmlns:a="http://schemas.openxmlformats.org/drawingml/2006/main">
            <a:pPr>
              <a:defRPr sz="1800" b="0">
                <a:solidFill>
                  <a:srgbClr val="9CABBB"/>
                </a:solidFill>
                <a:latin typeface="Geist"/>
                <a:ea typeface="Geist"/>
                <a:cs typeface="Geist"/>
              </a:defRPr>
            </a:pPr>
            <a:r>
              <a:rPr sz="1800" b="0">
                <a:solidFill>
                  <a:srgbClr val="9CABBB"/>
                </a:solidFill>
                <a:latin typeface="Geist"/>
                <a:ea typeface="Geist"/>
                <a:cs typeface="Geist"/>
              </a:rPr>
              <a:t>16 October 2026</a:t>
            </a:r>
          </a:p>
        </p:txBody>
      </p:sp>
    </p:spTree>
    <p:extLst>
      <p:ext uri="{BB962C8B-B14F-4D97-AF65-F5344CB8AC3E}">
        <p14:creationId xmlns:p14="http://schemas.microsoft.com/office/powerpoint/2010/main" val="1871198379"/>
      </p:ext>
    </p:extLst>
  </p:cSld>
</p:sld>
</file>

<file path=ppt/slides/slide2.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9" name="Service health and response">
            <a:extLst xmlns:a="http://schemas.openxmlformats.org/drawingml/2006/main">
              <a:ext uri="{FF2B5EF4-FFF2-40B4-BE49-F238E27FC236}">
                <a16:creationId xmlns:a16="http://schemas.microsoft.com/office/drawing/2014/main" id="{C0922F00-D29E-4150-B93F-20934E8966FF}"/>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Service health and response</a:t>
            </a:r>
          </a:p>
        </p:txBody>
      </p:sp>
      <p:sp>
        <p:nvSpPr>
          <p:cNvPr id="2" name="02">
            <a:extLst xmlns:a="http://schemas.openxmlformats.org/drawingml/2006/main">
              <a:ext uri="{FF2B5EF4-FFF2-40B4-BE49-F238E27FC236}">
                <a16:creationId xmlns:a16="http://schemas.microsoft.com/office/drawing/2014/main" id="{A4C3786A-A826-48C9-9C06-D082146D21BB}"/>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02</a:t>
            </a:r>
          </a:p>
        </p:txBody>
      </p:sp>
      <p:sp>
        <p:nvSpPr>
          <p:cNvPr id="3" name="Monitor">
            <a:extLst xmlns:a="http://schemas.openxmlformats.org/drawingml/2006/main">
              <a:ext uri="{FF2B5EF4-FFF2-40B4-BE49-F238E27FC236}">
                <a16:creationId xmlns:a16="http://schemas.microsoft.com/office/drawing/2014/main" id="{022341EE-94FC-466E-B7D5-F59489BC9A80}"/>
              </a:ext>
            </a:extLst>
          </p:cNvPr>
          <p:cNvSpPr>
            <a:spLocks xmlns:a="http://schemas.openxmlformats.org/drawingml/2006/main" noGrp="1"/>
          </p:cNvSpPr>
          <p:nvPr/>
        </p:nvSpPr>
        <p:spPr>
          <a:xfrm xmlns:a="http://schemas.openxmlformats.org/drawingml/2006/main">
            <a:off x="609600" y="16478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B5DFFF"/>
                </a:solidFill>
                <a:latin typeface="Geist"/>
                <a:ea typeface="Geist"/>
                <a:cs typeface="Geist"/>
              </a:defRPr>
            </a:defPPr>
          </a:lstStyle>
          <a:p xmlns:a="http://schemas.openxmlformats.org/drawingml/2006/main">
            <a:pPr>
              <a:defRPr sz="2475" b="1">
                <a:solidFill>
                  <a:srgbClr val="B5DFFF"/>
                </a:solidFill>
                <a:latin typeface="Geist"/>
                <a:ea typeface="Geist"/>
                <a:cs typeface="Geist"/>
              </a:defRPr>
            </a:pPr>
            <a:r>
              <a:rPr sz="2475" b="1">
                <a:solidFill>
                  <a:srgbClr val="B5DFFF"/>
                </a:solidFill>
                <a:latin typeface="Geist"/>
                <a:ea typeface="Geist"/>
                <a:cs typeface="Geist"/>
              </a:rPr>
              <a:t>Monitor</a:t>
            </a:r>
          </a:p>
        </p:txBody>
      </p:sp>
      <p:sp>
        <p:nvSpPr>
          <p:cNvPr id="4" name="Public HTTPS checks, status pages, and SVG badges.">
            <a:extLst xmlns:a="http://schemas.openxmlformats.org/drawingml/2006/main">
              <a:ext uri="{FF2B5EF4-FFF2-40B4-BE49-F238E27FC236}">
                <a16:creationId xmlns:a16="http://schemas.microsoft.com/office/drawing/2014/main" id="{E2EAE0D2-9923-4168-BE24-E0F31E68FA47}"/>
              </a:ext>
            </a:extLst>
          </p:cNvPr>
          <p:cNvSpPr>
            <a:spLocks xmlns:a="http://schemas.openxmlformats.org/drawingml/2006/main" noGrp="1"/>
          </p:cNvSpPr>
          <p:nvPr/>
        </p:nvSpPr>
        <p:spPr>
          <a:xfrm xmlns:a="http://schemas.openxmlformats.org/drawingml/2006/main">
            <a:off x="609600" y="213360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AF4FC"/>
                </a:solidFill>
                <a:latin typeface="Geist"/>
                <a:ea typeface="Geist"/>
                <a:cs typeface="Geist"/>
              </a:defRPr>
            </a:defPPr>
          </a:lstStyle>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Public HTTPS checks, status pages, and SVG badges.</a:t>
            </a:r>
          </a:p>
        </p:txBody>
      </p:sp>
      <p:sp>
        <p:nvSpPr>
          <p:cNvPr id="5" name="Respond">
            <a:extLst xmlns:a="http://schemas.openxmlformats.org/drawingml/2006/main">
              <a:ext uri="{FF2B5EF4-FFF2-40B4-BE49-F238E27FC236}">
                <a16:creationId xmlns:a16="http://schemas.microsoft.com/office/drawing/2014/main" id="{64CC0B74-15B4-4BB5-B489-899F825338AC}"/>
              </a:ext>
            </a:extLst>
          </p:cNvPr>
          <p:cNvSpPr>
            <a:spLocks xmlns:a="http://schemas.openxmlformats.org/drawingml/2006/main" noGrp="1"/>
          </p:cNvSpPr>
          <p:nvPr/>
        </p:nvSpPr>
        <p:spPr>
          <a:xfrm xmlns:a="http://schemas.openxmlformats.org/drawingml/2006/main">
            <a:off x="609600" y="34956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B5DFFF"/>
                </a:solidFill>
                <a:latin typeface="Geist"/>
                <a:ea typeface="Geist"/>
                <a:cs typeface="Geist"/>
              </a:defRPr>
            </a:defPPr>
          </a:lstStyle>
          <a:p xmlns:a="http://schemas.openxmlformats.org/drawingml/2006/main">
            <a:pPr>
              <a:defRPr sz="2475" b="1">
                <a:solidFill>
                  <a:srgbClr val="B5DFFF"/>
                </a:solidFill>
                <a:latin typeface="Geist"/>
                <a:ea typeface="Geist"/>
                <a:cs typeface="Geist"/>
              </a:defRPr>
            </a:pPr>
            <a:r>
              <a:rPr sz="2475" b="1">
                <a:solidFill>
                  <a:srgbClr val="B5DFFF"/>
                </a:solidFill>
                <a:latin typeface="Geist"/>
                <a:ea typeface="Geist"/>
                <a:cs typeface="Geist"/>
              </a:rPr>
              <a:t>Respond</a:t>
            </a:r>
          </a:p>
        </p:txBody>
      </p:sp>
      <p:sp>
        <p:nvSpPr>
          <p:cNvPr id="6" name="Incident timelines, recovery tasks, and factual postmortems.">
            <a:extLst xmlns:a="http://schemas.openxmlformats.org/drawingml/2006/main">
              <a:ext uri="{FF2B5EF4-FFF2-40B4-BE49-F238E27FC236}">
                <a16:creationId xmlns:a16="http://schemas.microsoft.com/office/drawing/2014/main" id="{931D6534-7A64-4ED0-BBC7-910A9EE27B4D}"/>
              </a:ext>
            </a:extLst>
          </p:cNvPr>
          <p:cNvSpPr>
            <a:spLocks xmlns:a="http://schemas.openxmlformats.org/drawingml/2006/main" noGrp="1"/>
          </p:cNvSpPr>
          <p:nvPr/>
        </p:nvSpPr>
        <p:spPr>
          <a:xfrm xmlns:a="http://schemas.openxmlformats.org/drawingml/2006/main">
            <a:off x="609600" y="3981450"/>
            <a:ext cx="333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AF4FC"/>
                </a:solidFill>
                <a:latin typeface="Geist"/>
                <a:ea typeface="Geist"/>
                <a:cs typeface="Geist"/>
              </a:defRPr>
            </a:defPPr>
          </a:lstStyle>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Incident timelines, recovery tasks, and factual postmortems.</a:t>
            </a:r>
          </a:p>
        </p:txBody>
      </p:sp>
      <p:pic>
        <p:nvPicPr>
          <p:cNvPr id="7" name="">
            <a:extLst xmlns:a="http://schemas.openxmlformats.org/drawingml/2006/main">
              <a:ext uri="{FF2B5EF4-FFF2-40B4-BE49-F238E27FC236}">
                <a16:creationId xmlns:a16="http://schemas.microsoft.com/office/drawing/2014/main" id="{C24AC6FA-D01F-4478-AD2B-4FC434015937}"/>
              </a:ext>
            </a:extLst>
          </p:cNvPr>
          <p:cNvPicPr>
            <a:picLocks xmlns:a="http://schemas.openxmlformats.org/drawingml/2006/main" noChangeAspect="1"/>
          </p:cNvPicPr>
          <p:nvPr/>
        </p:nvPicPr>
        <p:blipFill>
          <a:blip xmlns:r="http://schemas.openxmlformats.org/officeDocument/2006/relationships" xmlns:a="http://schemas.openxmlformats.org/drawingml/2006/main" r:embed="R02e8e5e3287646ca"/>
          <a:stretch xmlns:a="http://schemas.openxmlformats.org/drawingml/2006/main"/>
        </p:blipFill>
        <p:spPr>
          <a:xfrm xmlns:a="http://schemas.openxmlformats.org/drawingml/2006/main">
            <a:off x="4689539" y="1409700"/>
            <a:ext cx="6556248" cy="4552950"/>
          </a:xfrm>
          <a:prstGeom xmlns:a="http://schemas.openxmlformats.org/drawingml/2006/main" prst="rect">
            <a:avLst/>
          </a:prstGeom>
        </p:spPr>
      </p:pic>
      <p:sp>
        <p:nvSpPr>
          <p:cNvPr id="8" name="Demo telemetry is visibly labeled.">
            <a:extLst xmlns:a="http://schemas.openxmlformats.org/drawingml/2006/main">
              <a:ext uri="{FF2B5EF4-FFF2-40B4-BE49-F238E27FC236}">
                <a16:creationId xmlns:a16="http://schemas.microsoft.com/office/drawing/2014/main" id="{48BE8732-741B-4808-BFEE-EA72FB876FEB}"/>
              </a:ext>
            </a:extLst>
          </p:cNvPr>
          <p:cNvSpPr>
            <a:spLocks xmlns:a="http://schemas.openxmlformats.org/drawingml/2006/main" noGrp="1"/>
          </p:cNvSpPr>
          <p:nvPr/>
        </p:nvSpPr>
        <p:spPr>
          <a:xfrm xmlns:a="http://schemas.openxmlformats.org/drawingml/2006/main">
            <a:off x="4352925" y="5953125"/>
            <a:ext cx="7229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CABBB"/>
                </a:solidFill>
                <a:latin typeface="Geist"/>
                <a:ea typeface="Geist"/>
                <a:cs typeface="Geist"/>
              </a:defRPr>
            </a:defPPr>
          </a:lstStyle>
          <a:p xmlns:a="http://schemas.openxmlformats.org/drawingml/2006/main">
            <a:pPr>
              <a:defRPr sz="1575" b="0">
                <a:solidFill>
                  <a:srgbClr val="9CABBB"/>
                </a:solidFill>
                <a:latin typeface="Geist"/>
                <a:ea typeface="Geist"/>
                <a:cs typeface="Geist"/>
              </a:defRPr>
            </a:pPr>
            <a:r>
              <a:rPr sz="1575" b="0">
                <a:solidFill>
                  <a:srgbClr val="9CABBB"/>
                </a:solidFill>
                <a:latin typeface="Geist"/>
                <a:ea typeface="Geist"/>
                <a:cs typeface="Geist"/>
              </a:rPr>
              <a:t>Demo telemetry is visibly labeled.</a:t>
            </a:r>
          </a:p>
        </p:txBody>
      </p:sp>
    </p:spTree>
    <p:extLst>
      <p:ext uri="{BB962C8B-B14F-4D97-AF65-F5344CB8AC3E}">
        <p14:creationId xmlns:p14="http://schemas.microsoft.com/office/powerpoint/2010/main" val="2071655075"/>
      </p:ext>
    </p:extLst>
  </p:cSld>
</p:sld>
</file>

<file path=ppt/slides/slide3.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7" name="Service dependency analysis">
            <a:extLst xmlns:a="http://schemas.openxmlformats.org/drawingml/2006/main">
              <a:ext uri="{FF2B5EF4-FFF2-40B4-BE49-F238E27FC236}">
                <a16:creationId xmlns:a16="http://schemas.microsoft.com/office/drawing/2014/main" id="{124074AF-5088-4DD3-B3BB-5889DD9ED84F}"/>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Service dependency analysis</a:t>
            </a:r>
          </a:p>
        </p:txBody>
      </p:sp>
      <p:sp>
        <p:nvSpPr>
          <p:cNvPr id="2" name="03">
            <a:extLst xmlns:a="http://schemas.openxmlformats.org/drawingml/2006/main">
              <a:ext uri="{FF2B5EF4-FFF2-40B4-BE49-F238E27FC236}">
                <a16:creationId xmlns:a16="http://schemas.microsoft.com/office/drawing/2014/main" id="{767D2735-407B-407F-85CA-2CEF9C8E06AD}"/>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03</a:t>
            </a:r>
          </a:p>
        </p:txBody>
      </p:sp>
      <p:pic>
        <p:nvPicPr>
          <p:cNvPr id="3" name="">
            <a:extLst xmlns:a="http://schemas.openxmlformats.org/drawingml/2006/main">
              <a:ext uri="{FF2B5EF4-FFF2-40B4-BE49-F238E27FC236}">
                <a16:creationId xmlns:a16="http://schemas.microsoft.com/office/drawing/2014/main" id="{3AC250A4-970F-4EE9-B2ED-ADEFA2E83853}"/>
              </a:ext>
            </a:extLst>
          </p:cNvPr>
          <p:cNvPicPr>
            <a:picLocks xmlns:a="http://schemas.openxmlformats.org/drawingml/2006/main" noChangeAspect="1"/>
          </p:cNvPicPr>
          <p:nvPr/>
        </p:nvPicPr>
        <p:blipFill>
          <a:blip xmlns:r="http://schemas.openxmlformats.org/officeDocument/2006/relationships" xmlns:a="http://schemas.openxmlformats.org/drawingml/2006/main" r:embed="R0a4f73dfb18943da"/>
          <a:stretch xmlns:a="http://schemas.openxmlformats.org/drawingml/2006/main"/>
        </p:blipFill>
        <p:spPr>
          <a:xfrm xmlns:a="http://schemas.openxmlformats.org/drawingml/2006/main">
            <a:off x="4388168" y="1438275"/>
            <a:ext cx="6720840" cy="4667250"/>
          </a:xfrm>
          <a:prstGeom xmlns:a="http://schemas.openxmlformats.org/drawingml/2006/main" prst="rect">
            <a:avLst/>
          </a:prstGeom>
        </p:spPr>
      </p:pic>
      <p:sp>
        <p:nvSpPr>
          <p:cNvPr id="4" name="Potential impact">
            <a:extLst xmlns:a="http://schemas.openxmlformats.org/drawingml/2006/main">
              <a:ext uri="{FF2B5EF4-FFF2-40B4-BE49-F238E27FC236}">
                <a16:creationId xmlns:a16="http://schemas.microsoft.com/office/drawing/2014/main" id="{E9115FA0-1144-4A26-8517-1F62304D244F}"/>
              </a:ext>
            </a:extLst>
          </p:cNvPr>
          <p:cNvSpPr>
            <a:spLocks xmlns:a="http://schemas.openxmlformats.org/drawingml/2006/main" noGrp="1"/>
          </p:cNvSpPr>
          <p:nvPr/>
        </p:nvSpPr>
        <p:spPr>
          <a:xfrm xmlns:a="http://schemas.openxmlformats.org/drawingml/2006/main">
            <a:off x="609600" y="1666875"/>
            <a:ext cx="3028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B5DFFF"/>
                </a:solidFill>
                <a:latin typeface="Geist"/>
                <a:ea typeface="Geist"/>
                <a:cs typeface="Geist"/>
              </a:defRPr>
            </a:defPPr>
          </a:lstStyle>
          <a:p xmlns:a="http://schemas.openxmlformats.org/drawingml/2006/main">
            <a:pPr>
              <a:defRPr sz="2550" b="1">
                <a:solidFill>
                  <a:srgbClr val="B5DFFF"/>
                </a:solidFill>
                <a:latin typeface="Geist"/>
                <a:ea typeface="Geist"/>
                <a:cs typeface="Geist"/>
              </a:defRPr>
            </a:pPr>
            <a:r>
              <a:rPr sz="2550" b="1">
                <a:solidFill>
                  <a:srgbClr val="B5DFFF"/>
                </a:solidFill>
                <a:latin typeface="Geist"/>
                <a:ea typeface="Geist"/>
                <a:cs typeface="Geist"/>
              </a:rPr>
              <a:t>Potential impact</a:t>
            </a:r>
          </a:p>
        </p:txBody>
      </p:sp>
      <p:sp>
        <p:nvSpPr>
          <p:cNvPr id="5" name="Direct and indirect&#10;dependents&#10;&#10;Current health and&#10;incident ">
            <a:extLst xmlns:a="http://schemas.openxmlformats.org/drawingml/2006/main">
              <a:ext uri="{FF2B5EF4-FFF2-40B4-BE49-F238E27FC236}">
                <a16:creationId xmlns:a16="http://schemas.microsoft.com/office/drawing/2014/main" id="{38B9CFB1-D5D6-449B-83D2-AF8495970355}"/>
              </a:ext>
            </a:extLst>
          </p:cNvPr>
          <p:cNvSpPr>
            <a:spLocks xmlns:a="http://schemas.openxmlformats.org/drawingml/2006/main" noGrp="1"/>
          </p:cNvSpPr>
          <p:nvPr/>
        </p:nvSpPr>
        <p:spPr>
          <a:xfrm xmlns:a="http://schemas.openxmlformats.org/drawingml/2006/main">
            <a:off x="609600" y="2714625"/>
            <a:ext cx="3048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AF4FC"/>
                </a:solidFill>
                <a:latin typeface="Geist"/>
                <a:ea typeface="Geist"/>
                <a:cs typeface="Geist"/>
              </a:defRPr>
            </a:defPPr>
          </a:lstStyle>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Direct and indirect</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dependents</a:t>
            </a:r>
          </a:p>
          <a:p xmlns:a="http://schemas.openxmlformats.org/drawingml/2006/main">
            <a:r>
              <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Current health and</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incident severity</a:t>
            </a:r>
          </a:p>
          <a:p xmlns:a="http://schemas.openxmlformats.org/drawingml/2006/main">
            <a:r>
              <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Private, persistent</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connections</a:t>
            </a:r>
          </a:p>
        </p:txBody>
      </p:sp>
      <p:sp>
        <p:nvSpPr>
          <p:cNvPr id="6" name="Declared relationships do not prove causality.">
            <a:extLst xmlns:a="http://schemas.openxmlformats.org/drawingml/2006/main">
              <a:ext uri="{FF2B5EF4-FFF2-40B4-BE49-F238E27FC236}">
                <a16:creationId xmlns:a16="http://schemas.microsoft.com/office/drawing/2014/main" id="{189F3E42-845A-47A1-94F5-3D73E35BF531}"/>
              </a:ext>
            </a:extLst>
          </p:cNvPr>
          <p:cNvSpPr>
            <a:spLocks xmlns:a="http://schemas.openxmlformats.org/drawingml/2006/main" noGrp="1"/>
          </p:cNvSpPr>
          <p:nvPr/>
        </p:nvSpPr>
        <p:spPr>
          <a:xfrm xmlns:a="http://schemas.openxmlformats.org/drawingml/2006/main">
            <a:off x="3914775" y="6000750"/>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CABBB"/>
                </a:solidFill>
                <a:latin typeface="Geist"/>
                <a:ea typeface="Geist"/>
                <a:cs typeface="Geist"/>
              </a:defRPr>
            </a:defPPr>
          </a:lstStyle>
          <a:p xmlns:a="http://schemas.openxmlformats.org/drawingml/2006/main">
            <a:pPr>
              <a:defRPr sz="1575" b="0">
                <a:solidFill>
                  <a:srgbClr val="9CABBB"/>
                </a:solidFill>
                <a:latin typeface="Geist"/>
                <a:ea typeface="Geist"/>
                <a:cs typeface="Geist"/>
              </a:defRPr>
            </a:pPr>
            <a:r>
              <a:rPr sz="1575" b="0">
                <a:solidFill>
                  <a:srgbClr val="9CABBB"/>
                </a:solidFill>
                <a:latin typeface="Geist"/>
                <a:ea typeface="Geist"/>
                <a:cs typeface="Geist"/>
              </a:rPr>
              <a:t>Declared relationships do not prove causality.</a:t>
            </a:r>
          </a:p>
        </p:txBody>
      </p:sp>
    </p:spTree>
    <p:extLst>
      <p:ext uri="{BB962C8B-B14F-4D97-AF65-F5344CB8AC3E}">
        <p14:creationId xmlns:p14="http://schemas.microsoft.com/office/powerpoint/2010/main" val="2084551120"/>
      </p:ext>
    </p:extLst>
  </p:cSld>
</p:sld>
</file>

<file path=ppt/slides/slide4.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38114F5D-C9B9-4B08-AA4F-226141001343}"/>
              </a:ext>
            </a:extLst>
          </p:cNvPr>
          <p:cNvCxnSpPr>
            <a:stCxn xmlns:a="http://schemas.openxmlformats.org/drawingml/2006/main" id="10" idx="0"/>
            <a:endCxn xmlns:a="http://schemas.openxmlformats.org/drawingml/2006/main" id="9" idx="2"/>
          </p:cNvCxnSpPr>
          <p:nvPr/>
        </p:nvCxnSpPr>
        <p:spPr>
          <a:xfrm xmlns:a="http://schemas.openxmlformats.org/drawingml/2006/main" flipV="1">
            <a:off x="9915525" y="4514850"/>
            <a:ext cx="0" cy="41910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0E5F7871-6703-48C4-9759-FBD76B61F059}"/>
              </a:ext>
            </a:extLst>
          </p:cNvPr>
          <p:cNvCxnSpPr>
            <a:stCxn xmlns:a="http://schemas.openxmlformats.org/drawingml/2006/main" id="8" idx="3"/>
            <a:endCxn xmlns:a="http://schemas.openxmlformats.org/drawingml/2006/main" id="9" idx="1"/>
          </p:cNvCxnSpPr>
          <p:nvPr/>
        </p:nvCxnSpPr>
        <p:spPr>
          <a:xfrm xmlns:a="http://schemas.openxmlformats.org/drawingml/2006/main">
            <a:off x="7639050" y="4105275"/>
            <a:ext cx="108585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0821C76C-AA80-4CA6-8630-862DF835D505}"/>
              </a:ext>
            </a:extLst>
          </p:cNvPr>
          <p:cNvCxnSpPr>
            <a:stCxn xmlns:a="http://schemas.openxmlformats.org/drawingml/2006/main" id="6" idx="2"/>
            <a:endCxn xmlns:a="http://schemas.openxmlformats.org/drawingml/2006/main" id="8" idx="1"/>
          </p:cNvCxnSpPr>
          <p:nvPr/>
        </p:nvCxnSpPr>
        <p:spPr>
          <a:xfrm xmlns:a="http://schemas.openxmlformats.org/drawingml/2006/main">
            <a:off x="3829050" y="3657600"/>
            <a:ext cx="1714500" cy="447675"/>
          </a:xfrm>
          <a:prstGeom xmlns:a="http://schemas.openxmlformats.org/drawingml/2006/main" prst="bentConnector3">
            <a:avLst>
              <a:gd name="adj1" fmla="val 0"/>
            </a:avLst>
          </a:prstGeom>
          <a:ln xmlns:a="http://schemas.openxmlformats.org/drawingml/2006/main" w="19050">
            <a:solidFill>
              <a:srgbClr val="B5DFFF"/>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581293E9-3EAA-4908-A534-1FFA02612787}"/>
              </a:ext>
            </a:extLst>
          </p:cNvPr>
          <p:cNvCxnSpPr>
            <a:stCxn xmlns:a="http://schemas.openxmlformats.org/drawingml/2006/main" id="6" idx="0"/>
            <a:endCxn xmlns:a="http://schemas.openxmlformats.org/drawingml/2006/main" id="7" idx="1"/>
          </p:cNvCxnSpPr>
          <p:nvPr/>
        </p:nvCxnSpPr>
        <p:spPr>
          <a:xfrm xmlns:a="http://schemas.openxmlformats.org/drawingml/2006/main" flipV="1">
            <a:off x="3829050" y="2486025"/>
            <a:ext cx="1714500" cy="352425"/>
          </a:xfrm>
          <a:prstGeom xmlns:a="http://schemas.openxmlformats.org/drawingml/2006/main" prst="bentConnector3">
            <a:avLst>
              <a:gd name="adj1" fmla="val 0"/>
            </a:avLst>
          </a:prstGeom>
          <a:ln xmlns:a="http://schemas.openxmlformats.org/drawingml/2006/main" w="19050">
            <a:solidFill>
              <a:srgbClr val="B5DFFF"/>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B74ACDCA-A7A9-4FA1-B702-CD1047B356F5}"/>
              </a:ext>
            </a:extLst>
          </p:cNvPr>
          <p:cNvCxnSpPr>
            <a:stCxn xmlns:a="http://schemas.openxmlformats.org/drawingml/2006/main" id="5" idx="3"/>
            <a:endCxn xmlns:a="http://schemas.openxmlformats.org/drawingml/2006/main" id="6" idx="1"/>
          </p:cNvCxnSpPr>
          <p:nvPr/>
        </p:nvCxnSpPr>
        <p:spPr>
          <a:xfrm xmlns:a="http://schemas.openxmlformats.org/drawingml/2006/main">
            <a:off x="2133600" y="3248025"/>
            <a:ext cx="74295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sp>
        <p:nvSpPr>
          <p:cNvPr id="20" name="Application architecture">
            <a:extLst xmlns:a="http://schemas.openxmlformats.org/drawingml/2006/main">
              <a:ext uri="{FF2B5EF4-FFF2-40B4-BE49-F238E27FC236}">
                <a16:creationId xmlns:a16="http://schemas.microsoft.com/office/drawing/2014/main" id="{2F4EAFBE-11D3-4F77-9251-6AC832EF49CE}"/>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Application architecture</a:t>
            </a:r>
          </a:p>
        </p:txBody>
      </p:sp>
      <p:sp>
        <p:nvSpPr>
          <p:cNvPr id="2" name="04">
            <a:extLst xmlns:a="http://schemas.openxmlformats.org/drawingml/2006/main">
              <a:ext uri="{FF2B5EF4-FFF2-40B4-BE49-F238E27FC236}">
                <a16:creationId xmlns:a16="http://schemas.microsoft.com/office/drawing/2014/main" id="{09842CFE-D7C2-4F7D-B9E2-2052596223B5}"/>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04</a:t>
            </a:r>
          </a:p>
        </p:txBody>
      </p:sp>
      <p:sp>
        <p:nvSpPr>
          <p:cNvPr id="3" name="EC2 K3s host boundary">
            <a:extLst xmlns:a="http://schemas.openxmlformats.org/drawingml/2006/main">
              <a:ext uri="{FF2B5EF4-FFF2-40B4-BE49-F238E27FC236}">
                <a16:creationId xmlns:a16="http://schemas.microsoft.com/office/drawing/2014/main" id="{3208C238-DBAE-4391-9C9A-E49F91DD7CD8}"/>
              </a:ext>
            </a:extLst>
          </p:cNvPr>
          <p:cNvSpPr>
            <a:spLocks xmlns:a="http://schemas.openxmlformats.org/drawingml/2006/main" noGrp="1"/>
          </p:cNvSpPr>
          <p:nvPr/>
        </p:nvSpPr>
        <p:spPr>
          <a:xfrm xmlns:a="http://schemas.openxmlformats.org/drawingml/2006/main">
            <a:off x="2533650" y="1438275"/>
            <a:ext cx="9048750" cy="4381500"/>
          </a:xfrm>
          <a:prstGeom xmlns:a="http://schemas.openxmlformats.org/drawingml/2006/main" prst="rect">
            <a:avLst/>
          </a:prstGeom>
          <a:noFill xmlns:a="http://schemas.openxmlformats.org/drawingml/2006/main"/>
          <a:ln xmlns:a="http://schemas.openxmlformats.org/drawingml/2006/main" w="14288">
            <a:solidFill>
              <a:srgbClr val="324557"/>
            </a:solidFill>
            <a:prstDash val="dash"/>
          </a:ln>
        </p:spPr>
      </p:sp>
      <p:sp>
        <p:nvSpPr>
          <p:cNvPr id="4" name="AWS EC2 / K3s">
            <a:extLst xmlns:a="http://schemas.openxmlformats.org/drawingml/2006/main">
              <a:ext uri="{FF2B5EF4-FFF2-40B4-BE49-F238E27FC236}">
                <a16:creationId xmlns:a16="http://schemas.microsoft.com/office/drawing/2014/main" id="{7EB03AD4-9385-4F36-8004-0A5336874D6B}"/>
              </a:ext>
            </a:extLst>
          </p:cNvPr>
          <p:cNvSpPr>
            <a:spLocks xmlns:a="http://schemas.openxmlformats.org/drawingml/2006/main" noGrp="1"/>
          </p:cNvSpPr>
          <p:nvPr/>
        </p:nvSpPr>
        <p:spPr>
          <a:xfrm xmlns:a="http://schemas.openxmlformats.org/drawingml/2006/main">
            <a:off x="2781300" y="15621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CABBB"/>
                </a:solidFill>
                <a:latin typeface="Geist"/>
                <a:ea typeface="Geist"/>
                <a:cs typeface="Geist"/>
              </a:defRPr>
            </a:defPPr>
          </a:lstStyle>
          <a:p xmlns:a="http://schemas.openxmlformats.org/drawingml/2006/main">
            <a:pPr>
              <a:defRPr sz="1800" b="0">
                <a:solidFill>
                  <a:srgbClr val="9CABBB"/>
                </a:solidFill>
                <a:latin typeface="Geist"/>
                <a:ea typeface="Geist"/>
                <a:cs typeface="Geist"/>
              </a:defRPr>
            </a:pPr>
            <a:r>
              <a:rPr sz="1800" b="0">
                <a:solidFill>
                  <a:srgbClr val="9CABBB"/>
                </a:solidFill>
                <a:latin typeface="Geist"/>
                <a:ea typeface="Geist"/>
                <a:cs typeface="Geist"/>
              </a:rPr>
              <a:t>AWS EC2 / K3s</a:t>
            </a:r>
          </a:p>
        </p:txBody>
      </p:sp>
      <p:sp>
        <p:nvSpPr>
          <p:cNvPr id="5" name="Browser">
            <a:extLst xmlns:a="http://schemas.openxmlformats.org/drawingml/2006/main">
              <a:ext uri="{FF2B5EF4-FFF2-40B4-BE49-F238E27FC236}">
                <a16:creationId xmlns:a16="http://schemas.microsoft.com/office/drawing/2014/main" id="{06F591DC-27DE-42C5-B17E-8FFB367E0C03}"/>
              </a:ext>
            </a:extLst>
          </p:cNvPr>
          <p:cNvSpPr>
            <a:spLocks xmlns:a="http://schemas.openxmlformats.org/drawingml/2006/main" noGrp="1"/>
          </p:cNvSpPr>
          <p:nvPr/>
        </p:nvSpPr>
        <p:spPr>
          <a:xfrm xmlns:a="http://schemas.openxmlformats.org/drawingml/2006/main">
            <a:off x="609600" y="2838450"/>
            <a:ext cx="1524000" cy="81915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875" b="0">
                <a:solidFill>
                  <a:srgbClr val="EAF4FC"/>
                </a:solidFill>
                <a:latin typeface="Geist"/>
                <a:ea typeface="Geist"/>
                <a:cs typeface="Geist"/>
              </a:defRPr>
            </a:defPPr>
          </a:lstStyle>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Browser</a:t>
            </a:r>
          </a:p>
        </p:txBody>
      </p:sp>
      <p:sp>
        <p:nvSpPr>
          <p:cNvPr id="6" name="HTTPS ingress&#10;Traefik">
            <a:extLst xmlns:a="http://schemas.openxmlformats.org/drawingml/2006/main">
              <a:ext uri="{FF2B5EF4-FFF2-40B4-BE49-F238E27FC236}">
                <a16:creationId xmlns:a16="http://schemas.microsoft.com/office/drawing/2014/main" id="{CA1F3E6F-5AE4-4FA6-8DF9-797C171834E2}"/>
              </a:ext>
            </a:extLst>
          </p:cNvPr>
          <p:cNvSpPr>
            <a:spLocks xmlns:a="http://schemas.openxmlformats.org/drawingml/2006/main" noGrp="1"/>
          </p:cNvSpPr>
          <p:nvPr/>
        </p:nvSpPr>
        <p:spPr>
          <a:xfrm xmlns:a="http://schemas.openxmlformats.org/drawingml/2006/main">
            <a:off x="2876550" y="2838450"/>
            <a:ext cx="1905000" cy="81915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875" b="0">
                <a:solidFill>
                  <a:srgbClr val="EAF4FC"/>
                </a:solidFill>
                <a:latin typeface="Geist"/>
                <a:ea typeface="Geist"/>
                <a:cs typeface="Geist"/>
              </a:defRPr>
            </a:defPPr>
          </a:lstStyle>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HTTPS ingress</a:t>
            </a:r>
          </a:p>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Traefik</a:t>
            </a:r>
          </a:p>
        </p:txBody>
      </p:sp>
      <p:sp>
        <p:nvSpPr>
          <p:cNvPr id="7" name="React / Nginx&#10;2 replicas">
            <a:extLst xmlns:a="http://schemas.openxmlformats.org/drawingml/2006/main">
              <a:ext uri="{FF2B5EF4-FFF2-40B4-BE49-F238E27FC236}">
                <a16:creationId xmlns:a16="http://schemas.microsoft.com/office/drawing/2014/main" id="{79F85EC6-7281-423B-8B98-6E794DC5EDB0}"/>
              </a:ext>
            </a:extLst>
          </p:cNvPr>
          <p:cNvSpPr>
            <a:spLocks xmlns:a="http://schemas.openxmlformats.org/drawingml/2006/main" noGrp="1"/>
          </p:cNvSpPr>
          <p:nvPr/>
        </p:nvSpPr>
        <p:spPr>
          <a:xfrm xmlns:a="http://schemas.openxmlformats.org/drawingml/2006/main">
            <a:off x="5543550" y="2076450"/>
            <a:ext cx="2095500" cy="81915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875" b="0">
                <a:solidFill>
                  <a:srgbClr val="EAF4FC"/>
                </a:solidFill>
                <a:latin typeface="Geist"/>
                <a:ea typeface="Geist"/>
                <a:cs typeface="Geist"/>
              </a:defRPr>
            </a:defPPr>
          </a:lstStyle>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React / Nginx</a:t>
            </a:r>
          </a:p>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2 replicas</a:t>
            </a:r>
          </a:p>
        </p:txBody>
      </p:sp>
      <p:sp>
        <p:nvSpPr>
          <p:cNvPr id="8" name="FastAPI&#10;2 replicas">
            <a:extLst xmlns:a="http://schemas.openxmlformats.org/drawingml/2006/main">
              <a:ext uri="{FF2B5EF4-FFF2-40B4-BE49-F238E27FC236}">
                <a16:creationId xmlns:a16="http://schemas.microsoft.com/office/drawing/2014/main" id="{538676BD-41B0-4DC7-8BF3-E6D81601B716}"/>
              </a:ext>
            </a:extLst>
          </p:cNvPr>
          <p:cNvSpPr>
            <a:spLocks xmlns:a="http://schemas.openxmlformats.org/drawingml/2006/main" noGrp="1"/>
          </p:cNvSpPr>
          <p:nvPr/>
        </p:nvSpPr>
        <p:spPr>
          <a:xfrm xmlns:a="http://schemas.openxmlformats.org/drawingml/2006/main">
            <a:off x="5543550" y="3695700"/>
            <a:ext cx="2095500" cy="81915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875" b="0">
                <a:solidFill>
                  <a:srgbClr val="EAF4FC"/>
                </a:solidFill>
                <a:latin typeface="Geist"/>
                <a:ea typeface="Geist"/>
                <a:cs typeface="Geist"/>
              </a:defRPr>
            </a:defPPr>
          </a:lstStyle>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FastAPI</a:t>
            </a:r>
          </a:p>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2 replicas</a:t>
            </a:r>
          </a:p>
        </p:txBody>
      </p:sp>
      <p:sp>
        <p:nvSpPr>
          <p:cNvPr id="9" name="PostgreSQL&#10;persistent volume">
            <a:extLst xmlns:a="http://schemas.openxmlformats.org/drawingml/2006/main">
              <a:ext uri="{FF2B5EF4-FFF2-40B4-BE49-F238E27FC236}">
                <a16:creationId xmlns:a16="http://schemas.microsoft.com/office/drawing/2014/main" id="{A754EB96-431B-4C9C-908C-CE8781AC54ED}"/>
              </a:ext>
            </a:extLst>
          </p:cNvPr>
          <p:cNvSpPr>
            <a:spLocks xmlns:a="http://schemas.openxmlformats.org/drawingml/2006/main" noGrp="1"/>
          </p:cNvSpPr>
          <p:nvPr/>
        </p:nvSpPr>
        <p:spPr>
          <a:xfrm xmlns:a="http://schemas.openxmlformats.org/drawingml/2006/main">
            <a:off x="8724900" y="3695700"/>
            <a:ext cx="2381250" cy="81915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875" b="0">
                <a:solidFill>
                  <a:srgbClr val="EAF4FC"/>
                </a:solidFill>
                <a:latin typeface="Geist"/>
                <a:ea typeface="Geist"/>
                <a:cs typeface="Geist"/>
              </a:defRPr>
            </a:defPPr>
          </a:lstStyle>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PostgreSQL</a:t>
            </a:r>
          </a:p>
          <a:p xmlns:a="http://schemas.openxmlformats.org/drawingml/2006/main">
            <a:pPr algn="ctr">
              <a:defRPr sz="1875" b="0">
                <a:solidFill>
                  <a:srgbClr val="EAF4FC"/>
                </a:solidFill>
                <a:latin typeface="Geist"/>
                <a:ea typeface="Geist"/>
                <a:cs typeface="Geist"/>
              </a:defRPr>
            </a:pPr>
            <a:r>
              <a:rPr sz="1875" b="0">
                <a:solidFill>
                  <a:srgbClr val="EAF4FC"/>
                </a:solidFill>
                <a:latin typeface="Geist"/>
                <a:ea typeface="Geist"/>
                <a:cs typeface="Geist"/>
              </a:rPr>
              <a:t>persistent volume</a:t>
            </a:r>
          </a:p>
        </p:txBody>
      </p:sp>
      <p:sp>
        <p:nvSpPr>
          <p:cNvPr id="10" name="Scheduled worker&#10;1 replica">
            <a:extLst xmlns:a="http://schemas.openxmlformats.org/drawingml/2006/main">
              <a:ext uri="{FF2B5EF4-FFF2-40B4-BE49-F238E27FC236}">
                <a16:creationId xmlns:a16="http://schemas.microsoft.com/office/drawing/2014/main" id="{5E2DFA1E-CF25-445C-A905-188215373C7D}"/>
              </a:ext>
            </a:extLst>
          </p:cNvPr>
          <p:cNvSpPr>
            <a:spLocks xmlns:a="http://schemas.openxmlformats.org/drawingml/2006/main" noGrp="1"/>
          </p:cNvSpPr>
          <p:nvPr/>
        </p:nvSpPr>
        <p:spPr>
          <a:xfrm xmlns:a="http://schemas.openxmlformats.org/drawingml/2006/main">
            <a:off x="8724900" y="4933950"/>
            <a:ext cx="2381250" cy="6858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Scheduled worker</a:t>
            </a:r>
          </a:p>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1 replica</a:t>
            </a:r>
          </a:p>
        </p:txBody>
      </p:sp>
      <p:sp>
        <p:nvSpPr>
          <p:cNvPr id="16" name="/">
            <a:extLst xmlns:a="http://schemas.openxmlformats.org/drawingml/2006/main">
              <a:ext uri="{FF2B5EF4-FFF2-40B4-BE49-F238E27FC236}">
                <a16:creationId xmlns:a16="http://schemas.microsoft.com/office/drawing/2014/main" id="{300561D1-9766-4D3D-8C5A-4BB17D6BB70C}"/>
              </a:ext>
            </a:extLst>
          </p:cNvPr>
          <p:cNvSpPr>
            <a:spLocks xmlns:a="http://schemas.openxmlformats.org/drawingml/2006/main" noGrp="1"/>
          </p:cNvSpPr>
          <p:nvPr/>
        </p:nvSpPr>
        <p:spPr>
          <a:xfrm xmlns:a="http://schemas.openxmlformats.org/drawingml/2006/main">
            <a:off x="4924425" y="2162175"/>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5DFFF"/>
                </a:solidFill>
                <a:latin typeface="Geist"/>
                <a:ea typeface="Geist"/>
                <a:cs typeface="Geist"/>
              </a:defRPr>
            </a:defPPr>
          </a:lstStyle>
          <a:p xmlns:a="http://schemas.openxmlformats.org/drawingml/2006/main">
            <a:pPr>
              <a:defRPr sz="1800" b="0">
                <a:solidFill>
                  <a:srgbClr val="B5DFFF"/>
                </a:solidFill>
                <a:latin typeface="Geist"/>
                <a:ea typeface="Geist"/>
                <a:cs typeface="Geist"/>
              </a:defRPr>
            </a:pPr>
            <a:r>
              <a:rPr sz="1800" b="0">
                <a:solidFill>
                  <a:srgbClr val="B5DFFF"/>
                </a:solidFill>
                <a:latin typeface="Geist"/>
                <a:ea typeface="Geist"/>
                <a:cs typeface="Geist"/>
              </a:rPr>
              <a:t>/</a:t>
            </a:r>
          </a:p>
        </p:txBody>
      </p:sp>
      <p:sp>
        <p:nvSpPr>
          <p:cNvPr id="17" name="/api">
            <a:extLst xmlns:a="http://schemas.openxmlformats.org/drawingml/2006/main">
              <a:ext uri="{FF2B5EF4-FFF2-40B4-BE49-F238E27FC236}">
                <a16:creationId xmlns:a16="http://schemas.microsoft.com/office/drawing/2014/main" id="{E9C2DEAE-98E6-4929-A801-4220D07951A1}"/>
              </a:ext>
            </a:extLst>
          </p:cNvPr>
          <p:cNvSpPr>
            <a:spLocks xmlns:a="http://schemas.openxmlformats.org/drawingml/2006/main" noGrp="1"/>
          </p:cNvSpPr>
          <p:nvPr/>
        </p:nvSpPr>
        <p:spPr>
          <a:xfrm xmlns:a="http://schemas.openxmlformats.org/drawingml/2006/main">
            <a:off x="4810125" y="40671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5DFFF"/>
                </a:solidFill>
                <a:latin typeface="Geist"/>
                <a:ea typeface="Geist"/>
                <a:cs typeface="Geist"/>
              </a:defRPr>
            </a:defPPr>
          </a:lstStyle>
          <a:p xmlns:a="http://schemas.openxmlformats.org/drawingml/2006/main">
            <a:pPr>
              <a:defRPr sz="1800" b="0">
                <a:solidFill>
                  <a:srgbClr val="B5DFFF"/>
                </a:solidFill>
                <a:latin typeface="Geist"/>
                <a:ea typeface="Geist"/>
                <a:cs typeface="Geist"/>
              </a:defRPr>
            </a:pPr>
            <a:r>
              <a:rPr sz="1800" b="0">
                <a:solidFill>
                  <a:srgbClr val="B5DFFF"/>
                </a:solidFill>
                <a:latin typeface="Geist"/>
                <a:ea typeface="Geist"/>
                <a:cs typeface="Geist"/>
              </a:rPr>
              <a:t>/api</a:t>
            </a:r>
          </a:p>
        </p:txBody>
      </p:sp>
      <p:sp>
        <p:nvSpPr>
          <p:cNvPr id="18" name="Private database&#10;shared sessions">
            <a:extLst xmlns:a="http://schemas.openxmlformats.org/drawingml/2006/main">
              <a:ext uri="{FF2B5EF4-FFF2-40B4-BE49-F238E27FC236}">
                <a16:creationId xmlns:a16="http://schemas.microsoft.com/office/drawing/2014/main" id="{9CEC7023-F254-4089-B0C5-AD997931378F}"/>
              </a:ext>
            </a:extLst>
          </p:cNvPr>
          <p:cNvSpPr>
            <a:spLocks xmlns:a="http://schemas.openxmlformats.org/drawingml/2006/main" noGrp="1"/>
          </p:cNvSpPr>
          <p:nvPr/>
        </p:nvSpPr>
        <p:spPr>
          <a:xfrm xmlns:a="http://schemas.openxmlformats.org/drawingml/2006/main">
            <a:off x="7962900" y="30384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9CABBB"/>
                </a:solidFill>
                <a:latin typeface="Geist"/>
                <a:ea typeface="Geist"/>
                <a:cs typeface="Geist"/>
              </a:defRPr>
            </a:defPPr>
          </a:lstStyle>
          <a:p xmlns:a="http://schemas.openxmlformats.org/drawingml/2006/main">
            <a:pPr>
              <a:defRPr sz="1725" b="0">
                <a:solidFill>
                  <a:srgbClr val="9CABBB"/>
                </a:solidFill>
                <a:latin typeface="Geist"/>
                <a:ea typeface="Geist"/>
                <a:cs typeface="Geist"/>
              </a:defRPr>
            </a:pPr>
            <a:r>
              <a:rPr sz="1725" b="0">
                <a:solidFill>
                  <a:srgbClr val="9CABBB"/>
                </a:solidFill>
                <a:latin typeface="Geist"/>
                <a:ea typeface="Geist"/>
                <a:cs typeface="Geist"/>
              </a:rPr>
              <a:t>Private database</a:t>
            </a:r>
          </a:p>
          <a:p xmlns:a="http://schemas.openxmlformats.org/drawingml/2006/main">
            <a:pPr>
              <a:defRPr sz="1725" b="0">
                <a:solidFill>
                  <a:srgbClr val="9CABBB"/>
                </a:solidFill>
                <a:latin typeface="Geist"/>
                <a:ea typeface="Geist"/>
                <a:cs typeface="Geist"/>
              </a:defRPr>
            </a:pPr>
            <a:r>
              <a:rPr sz="1725" b="0">
                <a:solidFill>
                  <a:srgbClr val="9CABBB"/>
                </a:solidFill>
                <a:latin typeface="Geist"/>
                <a:ea typeface="Geist"/>
                <a:cs typeface="Geist"/>
              </a:rPr>
              <a:t>shared sessions</a:t>
            </a:r>
          </a:p>
        </p:txBody>
      </p:sp>
      <p:sp>
        <p:nvSpPr>
          <p:cNvPr id="19" name="API and worker perform bounded, validated public HTTPS probe">
            <a:extLst xmlns:a="http://schemas.openxmlformats.org/drawingml/2006/main">
              <a:ext uri="{FF2B5EF4-FFF2-40B4-BE49-F238E27FC236}">
                <a16:creationId xmlns:a16="http://schemas.microsoft.com/office/drawing/2014/main" id="{2A9D0A07-6B4E-462D-ACE4-CB43876D72BE}"/>
              </a:ext>
            </a:extLst>
          </p:cNvPr>
          <p:cNvSpPr>
            <a:spLocks xmlns:a="http://schemas.openxmlformats.org/drawingml/2006/main" noGrp="1"/>
          </p:cNvSpPr>
          <p:nvPr/>
        </p:nvSpPr>
        <p:spPr>
          <a:xfrm xmlns:a="http://schemas.openxmlformats.org/drawingml/2006/main">
            <a:off x="609600" y="60198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CABBB"/>
                </a:solidFill>
                <a:latin typeface="Geist"/>
                <a:ea typeface="Geist"/>
                <a:cs typeface="Geist"/>
              </a:defRPr>
            </a:defPPr>
          </a:lstStyle>
          <a:p xmlns:a="http://schemas.openxmlformats.org/drawingml/2006/main">
            <a:pPr>
              <a:defRPr sz="1800" b="0">
                <a:solidFill>
                  <a:srgbClr val="9CABBB"/>
                </a:solidFill>
                <a:latin typeface="Geist"/>
                <a:ea typeface="Geist"/>
                <a:cs typeface="Geist"/>
              </a:defRPr>
            </a:pPr>
            <a:r>
              <a:rPr sz="1800" b="0">
                <a:solidFill>
                  <a:srgbClr val="9CABBB"/>
                </a:solidFill>
                <a:latin typeface="Geist"/>
                <a:ea typeface="Geist"/>
                <a:cs typeface="Geist"/>
              </a:rPr>
              <a:t>API and worker perform bounded, validated public HTTPS probes.</a:t>
            </a:r>
          </a:p>
        </p:txBody>
      </p:sp>
    </p:spTree>
    <p:extLst>
      <p:ext uri="{BB962C8B-B14F-4D97-AF65-F5344CB8AC3E}">
        <p14:creationId xmlns:p14="http://schemas.microsoft.com/office/powerpoint/2010/main" val="1821868246"/>
      </p:ext>
    </p:extLst>
  </p:cSld>
</p:sld>
</file>

<file path=ppt/slides/slide5.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4" name="Implementation stack">
            <a:extLst xmlns:a="http://schemas.openxmlformats.org/drawingml/2006/main">
              <a:ext uri="{FF2B5EF4-FFF2-40B4-BE49-F238E27FC236}">
                <a16:creationId xmlns:a16="http://schemas.microsoft.com/office/drawing/2014/main" id="{ADA02A85-4DFD-4B53-A124-4F4100115DD2}"/>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Implementation stack</a:t>
            </a:r>
          </a:p>
        </p:txBody>
      </p:sp>
      <p:sp>
        <p:nvSpPr>
          <p:cNvPr id="2" name="05">
            <a:extLst xmlns:a="http://schemas.openxmlformats.org/drawingml/2006/main">
              <a:ext uri="{FF2B5EF4-FFF2-40B4-BE49-F238E27FC236}">
                <a16:creationId xmlns:a16="http://schemas.microsoft.com/office/drawing/2014/main" id="{821667D8-A022-495E-8E39-604FF7252175}"/>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05</a:t>
            </a:r>
          </a:p>
        </p:txBody>
      </p:sp>
      <p:graphicFrame>
        <p:nvGraphicFramePr>
          <p:cNvPr id="3" name="">
            <a:extLst xmlns:a="http://schemas.openxmlformats.org/drawingml/2006/main">
              <a:ext uri="{FF2B5EF4-FFF2-40B4-BE49-F238E27FC236}">
                <a16:creationId xmlns:a16="http://schemas.microsoft.com/office/drawing/2014/main" id="{645C44B3-F9FA-4F17-84D7-FA7BC92B4A36}"/>
              </a:ext>
            </a:extLst>
          </p:cNvPr>
          <p:cNvGraphicFramePr/>
          <p:nvPr/>
        </p:nvGraphicFramePr>
        <p:xfrm>
          <a:off xmlns:a="http://schemas.openxmlformats.org/drawingml/2006/main" x="609600" y="1524000"/>
          <a:ext xmlns:a="http://schemas.openxmlformats.org/drawingml/2006/main" cx="10972800" cy="4362450"/>
        </p:xfrm>
        <a:graphic xmlns:a="http://schemas.openxmlformats.org/drawingml/2006/main">
          <a:graphicData uri="http://schemas.openxmlformats.org/drawingml/2006/table">
            <a:tbl>
              <a:tblPr/>
              <a:tblGrid>
                <a:gridCol w="1809750"/>
                <a:gridCol w="4229100"/>
                <a:gridCol w="4933950"/>
              </a:tblGrid>
              <a:tr h="552450">
                <a:tc>
                  <a:txBody>
                    <a:bodyPr lIns="133350" tIns="133350" rIns="133350" bIns="133350">
                      <a:noAutofit/>
                    </a:bodyPr>
                    <a:lstStyle/>
                    <a:p>
                      <a:r>
                        <a:rPr sz="1800" b="1">
                          <a:solidFill>
                            <a:srgbClr val="B5DFFF"/>
                          </a:solidFill>
                          <a:latin typeface="Geist"/>
                          <a:ea typeface="Geist"/>
                          <a:cs typeface="Geist"/>
                        </a:rPr>
                        <a:t>Layer</a:t>
                      </a:r>
                    </a:p>
                  </a:txBody>
                  <a:tcPr marL="91440" marR="91440" marT="45720" marB="45720" anchor="ctr">
                    <a:solidFill>
                      <a:srgbClr val="071019"/>
                    </a:solidFill>
                  </a:tcPr>
                </a:tc>
                <a:tc>
                  <a:txBody>
                    <a:bodyPr lIns="133350" tIns="133350" rIns="133350" bIns="133350">
                      <a:noAutofit/>
                    </a:bodyPr>
                    <a:lstStyle/>
                    <a:p>
                      <a:r>
                        <a:rPr sz="1800" b="1">
                          <a:solidFill>
                            <a:srgbClr val="B5DFFF"/>
                          </a:solidFill>
                          <a:latin typeface="Geist"/>
                          <a:ea typeface="Geist"/>
                          <a:cs typeface="Geist"/>
                        </a:rPr>
                        <a:t>Implementation</a:t>
                      </a:r>
                    </a:p>
                  </a:txBody>
                  <a:tcPr marL="91440" marR="91440" marT="45720" marB="45720" anchor="ctr">
                    <a:solidFill>
                      <a:srgbClr val="071019"/>
                    </a:solidFill>
                  </a:tcPr>
                </a:tc>
                <a:tc>
                  <a:txBody>
                    <a:bodyPr lIns="133350" tIns="133350" rIns="133350" bIns="133350">
                      <a:noAutofit/>
                    </a:bodyPr>
                    <a:lstStyle/>
                    <a:p>
                      <a:r>
                        <a:rPr sz="1800" b="1">
                          <a:solidFill>
                            <a:srgbClr val="B5DFFF"/>
                          </a:solidFill>
                          <a:latin typeface="Geist"/>
                          <a:ea typeface="Geist"/>
                          <a:cs typeface="Geist"/>
                        </a:rPr>
                        <a:t>Purpose</a:t>
                      </a:r>
                    </a:p>
                  </a:txBody>
                  <a:tcPr marL="91440" marR="91440" marT="45720" marB="45720" anchor="ctr">
                    <a:solidFill>
                      <a:srgbClr val="071019"/>
                    </a:solidFill>
                  </a:tcPr>
                </a:tc>
              </a:tr>
              <a:tr h="762000">
                <a:tc>
                  <a:txBody>
                    <a:bodyPr lIns="133350" tIns="133350" rIns="133350" bIns="133350">
                      <a:noAutofit/>
                    </a:bodyPr>
                    <a:lstStyle/>
                    <a:p>
                      <a:r>
                        <a:rPr sz="1800" b="0">
                          <a:solidFill>
                            <a:srgbClr val="EAF4FC"/>
                          </a:solidFill>
                          <a:latin typeface="Geist"/>
                          <a:ea typeface="Geist"/>
                          <a:cs typeface="Geist"/>
                        </a:rPr>
                        <a:t>API</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Python / FastAPI</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Validated, owner-scoped REST routes</a:t>
                      </a:r>
                    </a:p>
                  </a:txBody>
                  <a:tcPr marL="91440" marR="91440" marT="45720" marB="45720" anchor="ctr">
                    <a:solidFill>
                      <a:srgbClr val="071019"/>
                    </a:solidFill>
                  </a:tcPr>
                </a:tc>
              </a:tr>
              <a:tr h="762000">
                <a:tc>
                  <a:txBody>
                    <a:bodyPr lIns="133350" tIns="133350" rIns="133350" bIns="133350">
                      <a:noAutofit/>
                    </a:bodyPr>
                    <a:lstStyle/>
                    <a:p>
                      <a:r>
                        <a:rPr sz="1800" b="0">
                          <a:solidFill>
                            <a:srgbClr val="EAF4FC"/>
                          </a:solidFill>
                          <a:latin typeface="Geist"/>
                          <a:ea typeface="Geist"/>
                          <a:cs typeface="Geist"/>
                        </a:rPr>
                        <a:t>Data</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PostgreSQL / SQLAlchemy / Alembic</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Persistent sessions and versioned schema</a:t>
                      </a:r>
                    </a:p>
                  </a:txBody>
                  <a:tcPr marL="91440" marR="91440" marT="45720" marB="45720" anchor="ctr">
                    <a:solidFill>
                      <a:srgbClr val="071019"/>
                    </a:solidFill>
                  </a:tcPr>
                </a:tc>
              </a:tr>
              <a:tr h="762000">
                <a:tc>
                  <a:txBody>
                    <a:bodyPr lIns="133350" tIns="133350" rIns="133350" bIns="133350">
                      <a:noAutofit/>
                    </a:bodyPr>
                    <a:lstStyle/>
                    <a:p>
                      <a:r>
                        <a:rPr sz="1800" b="0">
                          <a:solidFill>
                            <a:srgbClr val="EAF4FC"/>
                          </a:solidFill>
                          <a:latin typeface="Geist"/>
                          <a:ea typeface="Geist"/>
                          <a:cs typeface="Geist"/>
                        </a:rPr>
                        <a:t>Frontend</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React / TypeScript / Vite</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Responsive app and original WebGL</a:t>
                      </a:r>
                    </a:p>
                  </a:txBody>
                  <a:tcPr marL="91440" marR="91440" marT="45720" marB="45720" anchor="ctr">
                    <a:solidFill>
                      <a:srgbClr val="071019"/>
                    </a:solidFill>
                  </a:tcPr>
                </a:tc>
              </a:tr>
              <a:tr h="762000">
                <a:tc>
                  <a:txBody>
                    <a:bodyPr lIns="133350" tIns="133350" rIns="133350" bIns="133350">
                      <a:noAutofit/>
                    </a:bodyPr>
                    <a:lstStyle/>
                    <a:p>
                      <a:r>
                        <a:rPr sz="1800" b="0">
                          <a:solidFill>
                            <a:srgbClr val="EAF4FC"/>
                          </a:solidFill>
                          <a:latin typeface="Geist"/>
                          <a:ea typeface="Geist"/>
                          <a:cs typeface="Geist"/>
                        </a:rPr>
                        <a:t>Delivery</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Docker / Actions / Trivy / GHCR</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Tested and scanned SHA images</a:t>
                      </a:r>
                    </a:p>
                  </a:txBody>
                  <a:tcPr marL="91440" marR="91440" marT="45720" marB="45720" anchor="ctr">
                    <a:solidFill>
                      <a:srgbClr val="071019"/>
                    </a:solidFill>
                  </a:tcPr>
                </a:tc>
              </a:tr>
              <a:tr h="762000">
                <a:tc>
                  <a:txBody>
                    <a:bodyPr lIns="133350" tIns="133350" rIns="133350" bIns="133350">
                      <a:noAutofit/>
                    </a:bodyPr>
                    <a:lstStyle/>
                    <a:p>
                      <a:r>
                        <a:rPr sz="1800" b="0">
                          <a:solidFill>
                            <a:srgbClr val="EAF4FC"/>
                          </a:solidFill>
                          <a:latin typeface="Geist"/>
                          <a:ea typeface="Geist"/>
                          <a:cs typeface="Geist"/>
                        </a:rPr>
                        <a:t>Runtime</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Terraform / K3s / Helm</a:t>
                      </a:r>
                    </a:p>
                  </a:txBody>
                  <a:tcPr marL="91440" marR="91440" marT="45720" marB="45720" anchor="ctr">
                    <a:solidFill>
                      <a:srgbClr val="071019"/>
                    </a:solidFill>
                  </a:tcPr>
                </a:tc>
                <a:tc>
                  <a:txBody>
                    <a:bodyPr lIns="133350" tIns="133350" rIns="133350" bIns="133350">
                      <a:noAutofit/>
                    </a:bodyPr>
                    <a:lstStyle/>
                    <a:p>
                      <a:r>
                        <a:rPr sz="1800" b="0">
                          <a:solidFill>
                            <a:srgbClr val="EAF4FC"/>
                          </a:solidFill>
                          <a:latin typeface="Geist"/>
                          <a:ea typeface="Geist"/>
                          <a:cs typeface="Geist"/>
                        </a:rPr>
                        <a:t>Reproducible AWS deployment</a:t>
                      </a:r>
                    </a:p>
                  </a:txBody>
                  <a:tcPr marL="91440" marR="91440" marT="45720" marB="45720" anchor="ctr">
                    <a:solidFill>
                      <a:srgbClr val="071019"/>
                    </a:solidFill>
                  </a:tcPr>
                </a:tc>
              </a:tr>
            </a:tbl>
          </a:graphicData>
        </a:graphic>
      </p:graphicFrame>
    </p:spTree>
    <p:extLst>
      <p:ext uri="{BB962C8B-B14F-4D97-AF65-F5344CB8AC3E}">
        <p14:creationId xmlns:p14="http://schemas.microsoft.com/office/powerpoint/2010/main" val="1239057074"/>
      </p:ext>
    </p:extLst>
  </p:cSld>
</p:sld>
</file>

<file path=ppt/slides/slide6.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8" name="Automated verification">
            <a:extLst xmlns:a="http://schemas.openxmlformats.org/drawingml/2006/main">
              <a:ext uri="{FF2B5EF4-FFF2-40B4-BE49-F238E27FC236}">
                <a16:creationId xmlns:a16="http://schemas.microsoft.com/office/drawing/2014/main" id="{0E511986-2788-4742-8E3E-FD95DF159B4F}"/>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Automated verification</a:t>
            </a:r>
          </a:p>
        </p:txBody>
      </p:sp>
      <p:sp>
        <p:nvSpPr>
          <p:cNvPr id="2" name="06">
            <a:extLst xmlns:a="http://schemas.openxmlformats.org/drawingml/2006/main">
              <a:ext uri="{FF2B5EF4-FFF2-40B4-BE49-F238E27FC236}">
                <a16:creationId xmlns:a16="http://schemas.microsoft.com/office/drawing/2014/main" id="{FCB2152E-11CE-444C-A504-2DCC79967649}"/>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06</a:t>
            </a:r>
          </a:p>
        </p:txBody>
      </p:sp>
      <p:sp>
        <p:nvSpPr>
          <p:cNvPr id="3" name="128">
            <a:extLst xmlns:a="http://schemas.openxmlformats.org/drawingml/2006/main">
              <a:ext uri="{FF2B5EF4-FFF2-40B4-BE49-F238E27FC236}">
                <a16:creationId xmlns:a16="http://schemas.microsoft.com/office/drawing/2014/main" id="{777D9352-9303-4FCE-AC91-90E56B8B2314}"/>
              </a:ext>
            </a:extLst>
          </p:cNvPr>
          <p:cNvSpPr>
            <a:spLocks xmlns:a="http://schemas.openxmlformats.org/drawingml/2006/main" noGrp="1"/>
          </p:cNvSpPr>
          <p:nvPr/>
        </p:nvSpPr>
        <p:spPr>
          <a:xfrm xmlns:a="http://schemas.openxmlformats.org/drawingml/2006/main">
            <a:off x="609600" y="1819275"/>
            <a:ext cx="3619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800" b="1">
                <a:solidFill>
                  <a:srgbClr val="B5DFFF"/>
                </a:solidFill>
                <a:latin typeface="Geist"/>
                <a:ea typeface="Geist"/>
                <a:cs typeface="Geist"/>
              </a:defRPr>
            </a:defPPr>
          </a:lstStyle>
          <a:p xmlns:a="http://schemas.openxmlformats.org/drawingml/2006/main">
            <a:pPr>
              <a:defRPr sz="10800" b="1">
                <a:solidFill>
                  <a:srgbClr val="B5DFFF"/>
                </a:solidFill>
                <a:latin typeface="Geist"/>
                <a:ea typeface="Geist"/>
                <a:cs typeface="Geist"/>
              </a:defRPr>
            </a:pPr>
            <a:r>
              <a:rPr sz="10800" b="1">
                <a:solidFill>
                  <a:srgbClr val="B5DFFF"/>
                </a:solidFill>
                <a:latin typeface="Geist"/>
                <a:ea typeface="Geist"/>
                <a:cs typeface="Geist"/>
              </a:rPr>
              <a:t>128</a:t>
            </a:r>
          </a:p>
        </p:txBody>
      </p:sp>
      <p:sp>
        <p:nvSpPr>
          <p:cNvPr id="4" name="automated checks">
            <a:extLst xmlns:a="http://schemas.openxmlformats.org/drawingml/2006/main">
              <a:ext uri="{FF2B5EF4-FFF2-40B4-BE49-F238E27FC236}">
                <a16:creationId xmlns:a16="http://schemas.microsoft.com/office/drawing/2014/main" id="{19AFB8EF-3840-42EF-93DA-E9178FAC799F}"/>
              </a:ext>
            </a:extLst>
          </p:cNvPr>
          <p:cNvSpPr>
            <a:spLocks xmlns:a="http://schemas.openxmlformats.org/drawingml/2006/main" noGrp="1"/>
          </p:cNvSpPr>
          <p:nvPr/>
        </p:nvSpPr>
        <p:spPr>
          <a:xfrm xmlns:a="http://schemas.openxmlformats.org/drawingml/2006/main">
            <a:off x="647700" y="3667125"/>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EAF4FC"/>
                </a:solidFill>
                <a:latin typeface="Geist"/>
                <a:ea typeface="Geist"/>
                <a:cs typeface="Geist"/>
              </a:defRPr>
            </a:defPPr>
          </a:lstStyle>
          <a:p xmlns:a="http://schemas.openxmlformats.org/drawingml/2006/main">
            <a:pPr>
              <a:defRPr sz="2325" b="0">
                <a:solidFill>
                  <a:srgbClr val="EAF4FC"/>
                </a:solidFill>
                <a:latin typeface="Geist"/>
                <a:ea typeface="Geist"/>
                <a:cs typeface="Geist"/>
              </a:defRPr>
            </a:pPr>
            <a:r>
              <a:rPr sz="2325" b="0">
                <a:solidFill>
                  <a:srgbClr val="EAF4FC"/>
                </a:solidFill>
                <a:latin typeface="Geist"/>
                <a:ea typeface="Geist"/>
                <a:cs typeface="Geist"/>
              </a:rPr>
              <a:t>automated checks</a:t>
            </a:r>
          </a:p>
        </p:txBody>
      </p:sp>
      <p:sp>
        <p:nvSpPr>
          <p:cNvPr id="5" name="Isolated test data&#10;Real PostgreSQL smoke&#10;Real Compose restar">
            <a:extLst xmlns:a="http://schemas.openxmlformats.org/drawingml/2006/main">
              <a:ext uri="{FF2B5EF4-FFF2-40B4-BE49-F238E27FC236}">
                <a16:creationId xmlns:a16="http://schemas.microsoft.com/office/drawing/2014/main" id="{C92A4745-FAD0-4520-A4B5-4BD1B11C604F}"/>
              </a:ext>
            </a:extLst>
          </p:cNvPr>
          <p:cNvSpPr>
            <a:spLocks xmlns:a="http://schemas.openxmlformats.org/drawingml/2006/main" noGrp="1"/>
          </p:cNvSpPr>
          <p:nvPr/>
        </p:nvSpPr>
        <p:spPr>
          <a:xfrm xmlns:a="http://schemas.openxmlformats.org/drawingml/2006/main">
            <a:off x="647700" y="4457700"/>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9CABBB"/>
                </a:solidFill>
                <a:latin typeface="Geist"/>
                <a:ea typeface="Geist"/>
                <a:cs typeface="Geist"/>
              </a:defRPr>
            </a:defPPr>
          </a:lstStyle>
          <a:p xmlns:a="http://schemas.openxmlformats.org/drawingml/2006/main">
            <a:pPr>
              <a:defRPr sz="2025" b="0">
                <a:solidFill>
                  <a:srgbClr val="9CABBB"/>
                </a:solidFill>
                <a:latin typeface="Geist"/>
                <a:ea typeface="Geist"/>
                <a:cs typeface="Geist"/>
              </a:defRPr>
            </a:pPr>
            <a:r>
              <a:rPr sz="2025" b="0">
                <a:solidFill>
                  <a:srgbClr val="9CABBB"/>
                </a:solidFill>
                <a:latin typeface="Geist"/>
                <a:ea typeface="Geist"/>
                <a:cs typeface="Geist"/>
              </a:rPr>
              <a:t>Isolated test data</a:t>
            </a:r>
          </a:p>
          <a:p xmlns:a="http://schemas.openxmlformats.org/drawingml/2006/main">
            <a:pPr>
              <a:defRPr sz="2025" b="0">
                <a:solidFill>
                  <a:srgbClr val="9CABBB"/>
                </a:solidFill>
                <a:latin typeface="Geist"/>
                <a:ea typeface="Geist"/>
                <a:cs typeface="Geist"/>
              </a:defRPr>
            </a:pPr>
            <a:r>
              <a:rPr sz="2025" b="0">
                <a:solidFill>
                  <a:srgbClr val="9CABBB"/>
                </a:solidFill>
                <a:latin typeface="Geist"/>
                <a:ea typeface="Geist"/>
                <a:cs typeface="Geist"/>
              </a:rPr>
              <a:t>Real PostgreSQL smoke</a:t>
            </a:r>
          </a:p>
          <a:p xmlns:a="http://schemas.openxmlformats.org/drawingml/2006/main">
            <a:pPr>
              <a:defRPr sz="2025" b="0">
                <a:solidFill>
                  <a:srgbClr val="9CABBB"/>
                </a:solidFill>
                <a:latin typeface="Geist"/>
                <a:ea typeface="Geist"/>
                <a:cs typeface="Geist"/>
              </a:defRPr>
            </a:pPr>
            <a:r>
              <a:rPr sz="2025" b="0">
                <a:solidFill>
                  <a:srgbClr val="9CABBB"/>
                </a:solidFill>
                <a:latin typeface="Geist"/>
                <a:ea typeface="Geist"/>
                <a:cs typeface="Geist"/>
              </a:rPr>
              <a:t>Real Compose restart</a:t>
            </a:r>
          </a:p>
        </p:txBody>
      </p:sp>
      <p:graphicFrame>
        <p:nvGraphicFramePr>
          <p:cNvPr id="6" name="">
            <a:extLst xmlns:a="http://schemas.openxmlformats.org/drawingml/2006/main">
              <a:ext uri="{FF2B5EF4-FFF2-40B4-BE49-F238E27FC236}">
                <a16:creationId xmlns:a16="http://schemas.microsoft.com/office/drawing/2014/main" id="{4EE3945E-20AA-4908-8E0D-8FE57BF1F062}"/>
              </a:ext>
            </a:extLst>
          </p:cNvPr>
          <p:cNvGraphicFramePr/>
          <p:nvPr/>
        </p:nvGraphicFramePr>
        <p:xfrm>
          <a:off xmlns:a="http://schemas.openxmlformats.org/drawingml/2006/main" x="4953000" y="1771650"/>
          <a:ext xmlns:a="http://schemas.openxmlformats.org/drawingml/2006/main" cx="6629400" cy="3448050"/>
        </p:xfrm>
        <a:graphic xmlns:a="http://schemas.openxmlformats.org/drawingml/2006/main">
          <a:graphicData uri="http://schemas.openxmlformats.org/drawingml/2006/table">
            <a:tbl>
              <a:tblPr/>
              <a:tblGrid>
                <a:gridCol w="4724400"/>
                <a:gridCol w="1905000"/>
              </a:tblGrid>
              <a:tr h="590550">
                <a:tc>
                  <a:txBody>
                    <a:bodyPr lIns="133350" tIns="133350" rIns="133350" bIns="133350">
                      <a:noAutofit/>
                    </a:bodyPr>
                    <a:lstStyle/>
                    <a:p>
                      <a:r>
                        <a:rPr sz="2175" b="1">
                          <a:solidFill>
                            <a:srgbClr val="B5DFFF"/>
                          </a:solidFill>
                          <a:latin typeface="Geist"/>
                          <a:ea typeface="Geist"/>
                          <a:cs typeface="Geist"/>
                        </a:rPr>
                        <a:t>Suite</a:t>
                      </a:r>
                    </a:p>
                  </a:txBody>
                  <a:tcPr marL="91440" marR="91440" marT="45720" marB="45720" anchor="ctr">
                    <a:solidFill>
                      <a:srgbClr val="071019"/>
                    </a:solidFill>
                  </a:tcPr>
                </a:tc>
                <a:tc>
                  <a:txBody>
                    <a:bodyPr lIns="133350" tIns="133350" rIns="133350" bIns="133350">
                      <a:noAutofit/>
                    </a:bodyPr>
                    <a:lstStyle/>
                    <a:p>
                      <a:r>
                        <a:rPr sz="2175" b="1">
                          <a:solidFill>
                            <a:srgbClr val="B5DFFF"/>
                          </a:solidFill>
                          <a:latin typeface="Geist"/>
                          <a:ea typeface="Geist"/>
                          <a:cs typeface="Geist"/>
                        </a:rPr>
                        <a:t>Passed</a:t>
                      </a:r>
                    </a:p>
                  </a:txBody>
                  <a:tcPr marL="91440" marR="91440" marT="45720" marB="45720" anchor="ctr">
                    <a:solidFill>
                      <a:srgbClr val="071019"/>
                    </a:solidFill>
                  </a:tcPr>
                </a:tc>
              </a:tr>
              <a:tr h="952500">
                <a:tc>
                  <a:txBody>
                    <a:bodyPr lIns="133350" tIns="133350" rIns="133350" bIns="133350">
                      <a:noAutofit/>
                    </a:bodyPr>
                    <a:lstStyle/>
                    <a:p>
                      <a:r>
                        <a:rPr sz="2175" b="0">
                          <a:solidFill>
                            <a:srgbClr val="EAF4FC"/>
                          </a:solidFill>
                          <a:latin typeface="Geist"/>
                          <a:ea typeface="Geist"/>
                          <a:cs typeface="Geist"/>
                        </a:rPr>
                        <a:t>API behavior</a:t>
                      </a:r>
                    </a:p>
                  </a:txBody>
                  <a:tcPr marL="91440" marR="91440" marT="45720" marB="45720" anchor="ctr">
                    <a:solidFill>
                      <a:srgbClr val="071019"/>
                    </a:solidFill>
                  </a:tcPr>
                </a:tc>
                <a:tc>
                  <a:txBody>
                    <a:bodyPr lIns="133350" tIns="133350" rIns="133350" bIns="133350">
                      <a:noAutofit/>
                    </a:bodyPr>
                    <a:lstStyle/>
                    <a:p>
                      <a:r>
                        <a:rPr sz="2175" b="0">
                          <a:solidFill>
                            <a:srgbClr val="EAF4FC"/>
                          </a:solidFill>
                          <a:latin typeface="Geist"/>
                          <a:ea typeface="Geist"/>
                          <a:cs typeface="Geist"/>
                        </a:rPr>
                        <a:t>94</a:t>
                      </a:r>
                    </a:p>
                  </a:txBody>
                  <a:tcPr marL="91440" marR="91440" marT="45720" marB="45720" anchor="ctr">
                    <a:solidFill>
                      <a:srgbClr val="071019"/>
                    </a:solidFill>
                  </a:tcPr>
                </a:tc>
              </a:tr>
              <a:tr h="952500">
                <a:tc>
                  <a:txBody>
                    <a:bodyPr lIns="133350" tIns="133350" rIns="133350" bIns="133350">
                      <a:noAutofit/>
                    </a:bodyPr>
                    <a:lstStyle/>
                    <a:p>
                      <a:r>
                        <a:rPr sz="2175" b="0">
                          <a:solidFill>
                            <a:srgbClr val="EAF4FC"/>
                          </a:solidFill>
                          <a:latin typeface="Geist"/>
                          <a:ea typeface="Geist"/>
                          <a:cs typeface="Geist"/>
                        </a:rPr>
                        <a:t>Frontend behavior</a:t>
                      </a:r>
                    </a:p>
                  </a:txBody>
                  <a:tcPr marL="91440" marR="91440" marT="45720" marB="45720" anchor="ctr">
                    <a:solidFill>
                      <a:srgbClr val="071019"/>
                    </a:solidFill>
                  </a:tcPr>
                </a:tc>
                <a:tc>
                  <a:txBody>
                    <a:bodyPr lIns="133350" tIns="133350" rIns="133350" bIns="133350">
                      <a:noAutofit/>
                    </a:bodyPr>
                    <a:lstStyle/>
                    <a:p>
                      <a:r>
                        <a:rPr sz="2175" b="0">
                          <a:solidFill>
                            <a:srgbClr val="EAF4FC"/>
                          </a:solidFill>
                          <a:latin typeface="Geist"/>
                          <a:ea typeface="Geist"/>
                          <a:cs typeface="Geist"/>
                        </a:rPr>
                        <a:t>24</a:t>
                      </a:r>
                    </a:p>
                  </a:txBody>
                  <a:tcPr marL="91440" marR="91440" marT="45720" marB="45720" anchor="ctr">
                    <a:solidFill>
                      <a:srgbClr val="071019"/>
                    </a:solidFill>
                  </a:tcPr>
                </a:tc>
              </a:tr>
              <a:tr h="952500">
                <a:tc>
                  <a:txBody>
                    <a:bodyPr lIns="133350" tIns="133350" rIns="133350" bIns="133350">
                      <a:noAutofit/>
                    </a:bodyPr>
                    <a:lstStyle/>
                    <a:p>
                      <a:r>
                        <a:rPr sz="2175" b="0">
                          <a:solidFill>
                            <a:srgbClr val="EAF4FC"/>
                          </a:solidFill>
                          <a:latin typeface="Geist"/>
                          <a:ea typeface="Geist"/>
                          <a:cs typeface="Geist"/>
                        </a:rPr>
                        <a:t>AWS spending guard</a:t>
                      </a:r>
                    </a:p>
                  </a:txBody>
                  <a:tcPr marL="91440" marR="91440" marT="45720" marB="45720" anchor="ctr">
                    <a:solidFill>
                      <a:srgbClr val="071019"/>
                    </a:solidFill>
                  </a:tcPr>
                </a:tc>
                <a:tc>
                  <a:txBody>
                    <a:bodyPr lIns="133350" tIns="133350" rIns="133350" bIns="133350">
                      <a:noAutofit/>
                    </a:bodyPr>
                    <a:lstStyle/>
                    <a:p>
                      <a:r>
                        <a:rPr sz="2175" b="0">
                          <a:solidFill>
                            <a:srgbClr val="EAF4FC"/>
                          </a:solidFill>
                          <a:latin typeface="Geist"/>
                          <a:ea typeface="Geist"/>
                          <a:cs typeface="Geist"/>
                        </a:rPr>
                        <a:t>10</a:t>
                      </a:r>
                    </a:p>
                  </a:txBody>
                  <a:tcPr marL="91440" marR="91440" marT="45720" marB="45720" anchor="ctr">
                    <a:solidFill>
                      <a:srgbClr val="071019"/>
                    </a:solidFill>
                  </a:tcPr>
                </a:tc>
              </a:tr>
            </a:tbl>
          </a:graphicData>
        </a:graphic>
      </p:graphicFrame>
      <p:sp>
        <p:nvSpPr>
          <p:cNvPr id="7" name="Verified CI revision dbe4044">
            <a:extLst xmlns:a="http://schemas.openxmlformats.org/drawingml/2006/main">
              <a:ext uri="{FF2B5EF4-FFF2-40B4-BE49-F238E27FC236}">
                <a16:creationId xmlns:a16="http://schemas.microsoft.com/office/drawing/2014/main" id="{4C1C84E4-026D-472C-9F29-473DA4D3D748}"/>
              </a:ext>
            </a:extLst>
          </p:cNvPr>
          <p:cNvSpPr>
            <a:spLocks xmlns:a="http://schemas.openxmlformats.org/drawingml/2006/main" noGrp="1"/>
          </p:cNvSpPr>
          <p:nvPr/>
        </p:nvSpPr>
        <p:spPr>
          <a:xfrm xmlns:a="http://schemas.openxmlformats.org/drawingml/2006/main">
            <a:off x="4953000" y="5619750"/>
            <a:ext cx="662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9CABBB"/>
                </a:solidFill>
                <a:latin typeface="Geist"/>
                <a:ea typeface="Geist"/>
                <a:cs typeface="Geist"/>
              </a:defRPr>
            </a:defPPr>
          </a:lstStyle>
          <a:p xmlns:a="http://schemas.openxmlformats.org/drawingml/2006/main">
            <a:pPr>
              <a:defRPr sz="1725" b="0">
                <a:solidFill>
                  <a:srgbClr val="9CABBB"/>
                </a:solidFill>
                <a:latin typeface="Geist"/>
                <a:ea typeface="Geist"/>
                <a:cs typeface="Geist"/>
              </a:defRPr>
            </a:pPr>
            <a:r>
              <a:rPr sz="1725" b="0">
                <a:solidFill>
                  <a:srgbClr val="9CABBB"/>
                </a:solidFill>
                <a:latin typeface="Geist"/>
                <a:ea typeface="Geist"/>
                <a:cs typeface="Geist"/>
              </a:rPr>
              <a:t>Verified CI revision dbe4044</a:t>
            </a:r>
          </a:p>
        </p:txBody>
      </p:sp>
    </p:spTree>
    <p:extLst>
      <p:ext uri="{BB962C8B-B14F-4D97-AF65-F5344CB8AC3E}">
        <p14:creationId xmlns:p14="http://schemas.microsoft.com/office/powerpoint/2010/main" val="593374987"/>
      </p:ext>
    </p:extLst>
  </p:cSld>
</p:sld>
</file>

<file path=ppt/slides/slide7.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9DD7B6D-54C9-40F9-AD6A-2D3B139A5867}"/>
              </a:ext>
            </a:extLst>
          </p:cNvPr>
          <p:cNvCxnSpPr>
            <a:stCxn xmlns:a="http://schemas.openxmlformats.org/drawingml/2006/main" id="7" idx="3"/>
            <a:endCxn xmlns:a="http://schemas.openxmlformats.org/drawingml/2006/main" id="8" idx="1"/>
          </p:cNvCxnSpPr>
          <p:nvPr/>
        </p:nvCxnSpPr>
        <p:spPr>
          <a:xfrm xmlns:a="http://schemas.openxmlformats.org/drawingml/2006/main">
            <a:off x="9658350" y="2552700"/>
            <a:ext cx="19050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C8A209C0-6009-4253-AD83-4D0FA4D1C671}"/>
              </a:ext>
            </a:extLst>
          </p:cNvPr>
          <p:cNvCxnSpPr>
            <a:stCxn xmlns:a="http://schemas.openxmlformats.org/drawingml/2006/main" id="6" idx="3"/>
            <a:endCxn xmlns:a="http://schemas.openxmlformats.org/drawingml/2006/main" id="7" idx="1"/>
          </p:cNvCxnSpPr>
          <p:nvPr/>
        </p:nvCxnSpPr>
        <p:spPr>
          <a:xfrm xmlns:a="http://schemas.openxmlformats.org/drawingml/2006/main">
            <a:off x="7810500" y="2552700"/>
            <a:ext cx="19050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C5883FDF-9FAE-49EC-9B3C-FFB216A6D999}"/>
              </a:ext>
            </a:extLst>
          </p:cNvPr>
          <p:cNvCxnSpPr>
            <a:stCxn xmlns:a="http://schemas.openxmlformats.org/drawingml/2006/main" id="5" idx="3"/>
            <a:endCxn xmlns:a="http://schemas.openxmlformats.org/drawingml/2006/main" id="6" idx="1"/>
          </p:cNvCxnSpPr>
          <p:nvPr/>
        </p:nvCxnSpPr>
        <p:spPr>
          <a:xfrm xmlns:a="http://schemas.openxmlformats.org/drawingml/2006/main">
            <a:off x="5962650" y="2552700"/>
            <a:ext cx="19050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60816DEE-2383-4EE9-83FE-F73A0DE2169C}"/>
              </a:ext>
            </a:extLst>
          </p:cNvPr>
          <p:cNvCxnSpPr>
            <a:stCxn xmlns:a="http://schemas.openxmlformats.org/drawingml/2006/main" id="4" idx="3"/>
            <a:endCxn xmlns:a="http://schemas.openxmlformats.org/drawingml/2006/main" id="5" idx="1"/>
          </p:cNvCxnSpPr>
          <p:nvPr/>
        </p:nvCxnSpPr>
        <p:spPr>
          <a:xfrm xmlns:a="http://schemas.openxmlformats.org/drawingml/2006/main">
            <a:off x="4114800" y="2552700"/>
            <a:ext cx="19050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460D9E8-2E76-422F-9883-4B4626113EC3}"/>
              </a:ext>
            </a:extLst>
          </p:cNvPr>
          <p:cNvCxnSpPr>
            <a:stCxn xmlns:a="http://schemas.openxmlformats.org/drawingml/2006/main" id="3" idx="3"/>
            <a:endCxn xmlns:a="http://schemas.openxmlformats.org/drawingml/2006/main" id="4" idx="1"/>
          </p:cNvCxnSpPr>
          <p:nvPr/>
        </p:nvCxnSpPr>
        <p:spPr>
          <a:xfrm xmlns:a="http://schemas.openxmlformats.org/drawingml/2006/main">
            <a:off x="2266950" y="2552700"/>
            <a:ext cx="19050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sp>
        <p:nvSpPr>
          <p:cNvPr id="17" name="CI and security gates">
            <a:extLst xmlns:a="http://schemas.openxmlformats.org/drawingml/2006/main">
              <a:ext uri="{FF2B5EF4-FFF2-40B4-BE49-F238E27FC236}">
                <a16:creationId xmlns:a16="http://schemas.microsoft.com/office/drawing/2014/main" id="{0996A4B0-00C3-4F0D-99AE-C24272F240AF}"/>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CI and security gates</a:t>
            </a:r>
          </a:p>
        </p:txBody>
      </p:sp>
      <p:sp>
        <p:nvSpPr>
          <p:cNvPr id="2" name="07">
            <a:extLst xmlns:a="http://schemas.openxmlformats.org/drawingml/2006/main">
              <a:ext uri="{FF2B5EF4-FFF2-40B4-BE49-F238E27FC236}">
                <a16:creationId xmlns:a16="http://schemas.microsoft.com/office/drawing/2014/main" id="{11093697-2F85-4421-A898-1BA3FB98EAFD}"/>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07</a:t>
            </a:r>
          </a:p>
        </p:txBody>
      </p:sp>
      <p:sp>
        <p:nvSpPr>
          <p:cNvPr id="3" name="Push to main">
            <a:extLst xmlns:a="http://schemas.openxmlformats.org/drawingml/2006/main">
              <a:ext uri="{FF2B5EF4-FFF2-40B4-BE49-F238E27FC236}">
                <a16:creationId xmlns:a16="http://schemas.microsoft.com/office/drawing/2014/main" id="{D4C10FD6-0605-4291-820F-660111C84CFF}"/>
              </a:ext>
            </a:extLst>
          </p:cNvPr>
          <p:cNvSpPr>
            <a:spLocks xmlns:a="http://schemas.openxmlformats.org/drawingml/2006/main" noGrp="1"/>
          </p:cNvSpPr>
          <p:nvPr/>
        </p:nvSpPr>
        <p:spPr>
          <a:xfrm xmlns:a="http://schemas.openxmlformats.org/drawingml/2006/main">
            <a:off x="609600" y="2095500"/>
            <a:ext cx="1657350" cy="9144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Push to main</a:t>
            </a:r>
          </a:p>
        </p:txBody>
      </p:sp>
      <p:sp>
        <p:nvSpPr>
          <p:cNvPr id="4" name="Tests + build">
            <a:extLst xmlns:a="http://schemas.openxmlformats.org/drawingml/2006/main">
              <a:ext uri="{FF2B5EF4-FFF2-40B4-BE49-F238E27FC236}">
                <a16:creationId xmlns:a16="http://schemas.microsoft.com/office/drawing/2014/main" id="{EBB2CC39-E45F-472E-9134-A226750D4C71}"/>
              </a:ext>
            </a:extLst>
          </p:cNvPr>
          <p:cNvSpPr>
            <a:spLocks xmlns:a="http://schemas.openxmlformats.org/drawingml/2006/main" noGrp="1"/>
          </p:cNvSpPr>
          <p:nvPr/>
        </p:nvSpPr>
        <p:spPr>
          <a:xfrm xmlns:a="http://schemas.openxmlformats.org/drawingml/2006/main">
            <a:off x="2457450" y="2095500"/>
            <a:ext cx="1657350" cy="9144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Tests + build</a:t>
            </a:r>
          </a:p>
        </p:txBody>
      </p:sp>
      <p:sp>
        <p:nvSpPr>
          <p:cNvPr id="5" name="Runtime images">
            <a:extLst xmlns:a="http://schemas.openxmlformats.org/drawingml/2006/main">
              <a:ext uri="{FF2B5EF4-FFF2-40B4-BE49-F238E27FC236}">
                <a16:creationId xmlns:a16="http://schemas.microsoft.com/office/drawing/2014/main" id="{91B77CB4-9B27-41D7-810D-CCC6F524C51C}"/>
              </a:ext>
            </a:extLst>
          </p:cNvPr>
          <p:cNvSpPr>
            <a:spLocks xmlns:a="http://schemas.openxmlformats.org/drawingml/2006/main" noGrp="1"/>
          </p:cNvSpPr>
          <p:nvPr/>
        </p:nvSpPr>
        <p:spPr>
          <a:xfrm xmlns:a="http://schemas.openxmlformats.org/drawingml/2006/main">
            <a:off x="4305300" y="2095500"/>
            <a:ext cx="1657350" cy="9144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Runtime images</a:t>
            </a:r>
          </a:p>
        </p:txBody>
      </p:sp>
      <p:sp>
        <p:nvSpPr>
          <p:cNvPr id="6" name="Compose smoke">
            <a:extLst xmlns:a="http://schemas.openxmlformats.org/drawingml/2006/main">
              <a:ext uri="{FF2B5EF4-FFF2-40B4-BE49-F238E27FC236}">
                <a16:creationId xmlns:a16="http://schemas.microsoft.com/office/drawing/2014/main" id="{9B02DCC2-25F6-4D7C-BACE-39423294372E}"/>
              </a:ext>
            </a:extLst>
          </p:cNvPr>
          <p:cNvSpPr>
            <a:spLocks xmlns:a="http://schemas.openxmlformats.org/drawingml/2006/main" noGrp="1"/>
          </p:cNvSpPr>
          <p:nvPr/>
        </p:nvSpPr>
        <p:spPr>
          <a:xfrm xmlns:a="http://schemas.openxmlformats.org/drawingml/2006/main">
            <a:off x="6153150" y="2095500"/>
            <a:ext cx="1657350" cy="9144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Compose smoke</a:t>
            </a:r>
          </a:p>
        </p:txBody>
      </p:sp>
      <p:sp>
        <p:nvSpPr>
          <p:cNvPr id="7" name="Trivy gate">
            <a:extLst xmlns:a="http://schemas.openxmlformats.org/drawingml/2006/main">
              <a:ext uri="{FF2B5EF4-FFF2-40B4-BE49-F238E27FC236}">
                <a16:creationId xmlns:a16="http://schemas.microsoft.com/office/drawing/2014/main" id="{79E97682-7430-469A-9CCB-0DCEC9C156D0}"/>
              </a:ext>
            </a:extLst>
          </p:cNvPr>
          <p:cNvSpPr>
            <a:spLocks xmlns:a="http://schemas.openxmlformats.org/drawingml/2006/main" noGrp="1"/>
          </p:cNvSpPr>
          <p:nvPr/>
        </p:nvSpPr>
        <p:spPr>
          <a:xfrm xmlns:a="http://schemas.openxmlformats.org/drawingml/2006/main">
            <a:off x="8001000" y="2095500"/>
            <a:ext cx="1657350" cy="914400"/>
          </a:xfrm>
          <a:prstGeom xmlns:a="http://schemas.openxmlformats.org/drawingml/2006/main" prst="rect">
            <a:avLst/>
          </a:prstGeom>
          <a:solidFill xmlns:a="http://schemas.openxmlformats.org/drawingml/2006/main">
            <a:srgbClr val="101F2E"/>
          </a:solidFill>
          <a:ln xmlns:a="http://schemas.openxmlformats.org/drawingml/2006/main" w="14288">
            <a:solidFill>
              <a:srgbClr val="B5DFFF"/>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Trivy gate</a:t>
            </a:r>
          </a:p>
        </p:txBody>
      </p:sp>
      <p:sp>
        <p:nvSpPr>
          <p:cNvPr id="8" name="SHA images">
            <a:extLst xmlns:a="http://schemas.openxmlformats.org/drawingml/2006/main">
              <a:ext uri="{FF2B5EF4-FFF2-40B4-BE49-F238E27FC236}">
                <a16:creationId xmlns:a16="http://schemas.microsoft.com/office/drawing/2014/main" id="{25BFF3B0-C8E7-4698-8949-555943AFCAC2}"/>
              </a:ext>
            </a:extLst>
          </p:cNvPr>
          <p:cNvSpPr>
            <a:spLocks xmlns:a="http://schemas.openxmlformats.org/drawingml/2006/main" noGrp="1"/>
          </p:cNvSpPr>
          <p:nvPr/>
        </p:nvSpPr>
        <p:spPr>
          <a:xfrm xmlns:a="http://schemas.openxmlformats.org/drawingml/2006/main">
            <a:off x="9848850" y="2095500"/>
            <a:ext cx="1657350" cy="9144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1725" b="0">
                <a:solidFill>
                  <a:srgbClr val="EAF4FC"/>
                </a:solidFill>
                <a:latin typeface="Geist"/>
                <a:ea typeface="Geist"/>
                <a:cs typeface="Geist"/>
              </a:defRPr>
            </a:defPPr>
          </a:lstStyle>
          <a:p xmlns:a="http://schemas.openxmlformats.org/drawingml/2006/main">
            <a:pPr algn="ctr">
              <a:defRPr sz="1725" b="0">
                <a:solidFill>
                  <a:srgbClr val="EAF4FC"/>
                </a:solidFill>
                <a:latin typeface="Geist"/>
                <a:ea typeface="Geist"/>
                <a:cs typeface="Geist"/>
              </a:defRPr>
            </a:pPr>
            <a:r>
              <a:rPr sz="1725" b="0">
                <a:solidFill>
                  <a:srgbClr val="EAF4FC"/>
                </a:solidFill>
                <a:latin typeface="Geist"/>
                <a:ea typeface="Geist"/>
                <a:cs typeface="Geist"/>
              </a:rPr>
              <a:t>SHA images</a:t>
            </a:r>
          </a:p>
        </p:txBody>
      </p:sp>
      <p:sp>
        <p:nvSpPr>
          <p:cNvPr id="14" name="0">
            <a:extLst xmlns:a="http://schemas.openxmlformats.org/drawingml/2006/main">
              <a:ext uri="{FF2B5EF4-FFF2-40B4-BE49-F238E27FC236}">
                <a16:creationId xmlns:a16="http://schemas.microsoft.com/office/drawing/2014/main" id="{8C18997A-4396-4BED-AAB2-E6FC116AF49E}"/>
              </a:ext>
            </a:extLst>
          </p:cNvPr>
          <p:cNvSpPr>
            <a:spLocks xmlns:a="http://schemas.openxmlformats.org/drawingml/2006/main" noGrp="1"/>
          </p:cNvSpPr>
          <p:nvPr/>
        </p:nvSpPr>
        <p:spPr>
          <a:xfrm xmlns:a="http://schemas.openxmlformats.org/drawingml/2006/main">
            <a:off x="609600" y="3886200"/>
            <a:ext cx="200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9BD8B7"/>
                </a:solidFill>
                <a:latin typeface="Geist"/>
                <a:ea typeface="Geist"/>
                <a:cs typeface="Geist"/>
              </a:defRPr>
            </a:defPPr>
          </a:lstStyle>
          <a:p xmlns:a="http://schemas.openxmlformats.org/drawingml/2006/main">
            <a:pPr>
              <a:defRPr sz="8400" b="1">
                <a:solidFill>
                  <a:srgbClr val="9BD8B7"/>
                </a:solidFill>
                <a:latin typeface="Geist"/>
                <a:ea typeface="Geist"/>
                <a:cs typeface="Geist"/>
              </a:defRPr>
            </a:pPr>
            <a:r>
              <a:rPr sz="8400" b="1">
                <a:solidFill>
                  <a:srgbClr val="9BD8B7"/>
                </a:solidFill>
                <a:latin typeface="Geist"/>
                <a:ea typeface="Geist"/>
                <a:cs typeface="Geist"/>
              </a:rPr>
              <a:t>0</a:t>
            </a:r>
          </a:p>
        </p:txBody>
      </p:sp>
      <p:sp>
        <p:nvSpPr>
          <p:cNvPr id="15" name="HIGH or CRITICAL findings&#10;in both published runtime images">
            <a:extLst xmlns:a="http://schemas.openxmlformats.org/drawingml/2006/main">
              <a:ext uri="{FF2B5EF4-FFF2-40B4-BE49-F238E27FC236}">
                <a16:creationId xmlns:a16="http://schemas.microsoft.com/office/drawing/2014/main" id="{FF985118-DFED-4F59-A78B-66DCBA77026F}"/>
              </a:ext>
            </a:extLst>
          </p:cNvPr>
          <p:cNvSpPr>
            <a:spLocks xmlns:a="http://schemas.openxmlformats.org/drawingml/2006/main" noGrp="1"/>
          </p:cNvSpPr>
          <p:nvPr/>
        </p:nvSpPr>
        <p:spPr>
          <a:xfrm xmlns:a="http://schemas.openxmlformats.org/drawingml/2006/main">
            <a:off x="2571750" y="41243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EAF4FC"/>
                </a:solidFill>
                <a:latin typeface="Geist"/>
                <a:ea typeface="Geist"/>
                <a:cs typeface="Geist"/>
              </a:defRPr>
            </a:defPPr>
          </a:lstStyle>
          <a:p xmlns:a="http://schemas.openxmlformats.org/drawingml/2006/main">
            <a:pPr>
              <a:defRPr sz="2550" b="0">
                <a:solidFill>
                  <a:srgbClr val="EAF4FC"/>
                </a:solidFill>
                <a:latin typeface="Geist"/>
                <a:ea typeface="Geist"/>
                <a:cs typeface="Geist"/>
              </a:defRPr>
            </a:pPr>
            <a:r>
              <a:rPr sz="2550" b="0">
                <a:solidFill>
                  <a:srgbClr val="EAF4FC"/>
                </a:solidFill>
                <a:latin typeface="Geist"/>
                <a:ea typeface="Geist"/>
                <a:cs typeface="Geist"/>
              </a:rPr>
              <a:t>HIGH or CRITICAL findings</a:t>
            </a:r>
          </a:p>
          <a:p xmlns:a="http://schemas.openxmlformats.org/drawingml/2006/main">
            <a:pPr>
              <a:defRPr sz="2550" b="0">
                <a:solidFill>
                  <a:srgbClr val="EAF4FC"/>
                </a:solidFill>
                <a:latin typeface="Geist"/>
                <a:ea typeface="Geist"/>
                <a:cs typeface="Geist"/>
              </a:defRPr>
            </a:pPr>
            <a:r>
              <a:rPr sz="2550" b="0">
                <a:solidFill>
                  <a:srgbClr val="EAF4FC"/>
                </a:solidFill>
                <a:latin typeface="Geist"/>
                <a:ea typeface="Geist"/>
                <a:cs typeface="Geist"/>
              </a:rPr>
              <a:t>in both published runtime images</a:t>
            </a:r>
          </a:p>
        </p:txBody>
      </p:sp>
      <p:sp>
        <p:nvSpPr>
          <p:cNvPr id="16" name="Unfixed findings included. No exclusions. Publication requir">
            <a:extLst xmlns:a="http://schemas.openxmlformats.org/drawingml/2006/main">
              <a:ext uri="{FF2B5EF4-FFF2-40B4-BE49-F238E27FC236}">
                <a16:creationId xmlns:a16="http://schemas.microsoft.com/office/drawing/2014/main" id="{08A1DDC2-4CD6-4CE0-85CA-EDC1757057BA}"/>
              </a:ext>
            </a:extLst>
          </p:cNvPr>
          <p:cNvSpPr>
            <a:spLocks xmlns:a="http://schemas.openxmlformats.org/drawingml/2006/main" noGrp="1"/>
          </p:cNvSpPr>
          <p:nvPr/>
        </p:nvSpPr>
        <p:spPr>
          <a:xfrm xmlns:a="http://schemas.openxmlformats.org/drawingml/2006/main">
            <a:off x="609600" y="57721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CABBB"/>
                </a:solidFill>
                <a:latin typeface="Geist"/>
                <a:ea typeface="Geist"/>
                <a:cs typeface="Geist"/>
              </a:defRPr>
            </a:defPPr>
          </a:lstStyle>
          <a:p xmlns:a="http://schemas.openxmlformats.org/drawingml/2006/main">
            <a:pPr>
              <a:defRPr sz="1875" b="0">
                <a:solidFill>
                  <a:srgbClr val="9CABBB"/>
                </a:solidFill>
                <a:latin typeface="Geist"/>
                <a:ea typeface="Geist"/>
                <a:cs typeface="Geist"/>
              </a:defRPr>
            </a:pPr>
            <a:r>
              <a:rPr sz="1875" b="0">
                <a:solidFill>
                  <a:srgbClr val="9CABBB"/>
                </a:solidFill>
                <a:latin typeface="Geist"/>
                <a:ea typeface="Geist"/>
                <a:cs typeface="Geist"/>
              </a:rPr>
              <a:t>Unfixed findings included. No exclusions. Publication requires every gate.</a:t>
            </a:r>
          </a:p>
        </p:txBody>
      </p:sp>
    </p:spTree>
    <p:extLst>
      <p:ext uri="{BB962C8B-B14F-4D97-AF65-F5344CB8AC3E}">
        <p14:creationId xmlns:p14="http://schemas.microsoft.com/office/powerpoint/2010/main" val="2017995812"/>
      </p:ext>
    </p:extLst>
  </p:cSld>
</p:sld>
</file>

<file path=ppt/slides/slide8.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10" name="AWS Free plan deployment">
            <a:extLst xmlns:a="http://schemas.openxmlformats.org/drawingml/2006/main">
              <a:ext uri="{FF2B5EF4-FFF2-40B4-BE49-F238E27FC236}">
                <a16:creationId xmlns:a16="http://schemas.microsoft.com/office/drawing/2014/main" id="{4724447C-1F1F-43B7-B918-FD6B2A31D839}"/>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AWS Free plan deployment</a:t>
            </a:r>
          </a:p>
        </p:txBody>
      </p:sp>
      <p:sp>
        <p:nvSpPr>
          <p:cNvPr id="2" name="08">
            <a:extLst xmlns:a="http://schemas.openxmlformats.org/drawingml/2006/main">
              <a:ext uri="{FF2B5EF4-FFF2-40B4-BE49-F238E27FC236}">
                <a16:creationId xmlns:a16="http://schemas.microsoft.com/office/drawing/2014/main" id="{6896D9C2-D4D1-482D-8559-421189EA3F31}"/>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08</a:t>
            </a:r>
          </a:p>
        </p:txBody>
      </p:sp>
      <p:sp>
        <p:nvSpPr>
          <p:cNvPr id="3" name="t3.small">
            <a:extLst xmlns:a="http://schemas.openxmlformats.org/drawingml/2006/main">
              <a:ext uri="{FF2B5EF4-FFF2-40B4-BE49-F238E27FC236}">
                <a16:creationId xmlns:a16="http://schemas.microsoft.com/office/drawing/2014/main" id="{8B490B7A-E385-43B8-9E6D-E962B979C4E7}"/>
              </a:ext>
            </a:extLst>
          </p:cNvPr>
          <p:cNvSpPr>
            <a:spLocks xmlns:a="http://schemas.openxmlformats.org/drawingml/2006/main" noGrp="1"/>
          </p:cNvSpPr>
          <p:nvPr/>
        </p:nvSpPr>
        <p:spPr>
          <a:xfrm xmlns:a="http://schemas.openxmlformats.org/drawingml/2006/main">
            <a:off x="609600" y="148590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B5DFFF"/>
                </a:solidFill>
                <a:latin typeface="Geist"/>
                <a:ea typeface="Geist"/>
                <a:cs typeface="Geist"/>
              </a:defRPr>
            </a:defPPr>
          </a:lstStyle>
          <a:p xmlns:a="http://schemas.openxmlformats.org/drawingml/2006/main">
            <a:pPr>
              <a:defRPr sz="4875" b="1">
                <a:solidFill>
                  <a:srgbClr val="B5DFFF"/>
                </a:solidFill>
                <a:latin typeface="Geist"/>
                <a:ea typeface="Geist"/>
                <a:cs typeface="Geist"/>
              </a:defRPr>
            </a:pPr>
            <a:r>
              <a:rPr sz="4875" b="1">
                <a:solidFill>
                  <a:srgbClr val="B5DFFF"/>
                </a:solidFill>
                <a:latin typeface="Geist"/>
                <a:ea typeface="Geist"/>
                <a:cs typeface="Geist"/>
              </a:rPr>
              <a:t>t3.small</a:t>
            </a:r>
          </a:p>
        </p:txBody>
      </p:sp>
      <p:sp>
        <p:nvSpPr>
          <p:cNvPr id="4" name="2 GiB / EC2 / K3s&#10;Mumbai region">
            <a:extLst xmlns:a="http://schemas.openxmlformats.org/drawingml/2006/main">
              <a:ext uri="{FF2B5EF4-FFF2-40B4-BE49-F238E27FC236}">
                <a16:creationId xmlns:a16="http://schemas.microsoft.com/office/drawing/2014/main" id="{D0C0B05A-C082-438C-A83D-0115BBAC9DB7}"/>
              </a:ext>
            </a:extLst>
          </p:cNvPr>
          <p:cNvSpPr>
            <a:spLocks xmlns:a="http://schemas.openxmlformats.org/drawingml/2006/main" noGrp="1"/>
          </p:cNvSpPr>
          <p:nvPr/>
        </p:nvSpPr>
        <p:spPr>
          <a:xfrm xmlns:a="http://schemas.openxmlformats.org/drawingml/2006/main">
            <a:off x="647700" y="24669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AF4FC"/>
                </a:solidFill>
                <a:latin typeface="Geist"/>
                <a:ea typeface="Geist"/>
                <a:cs typeface="Geist"/>
              </a:defRPr>
            </a:defPPr>
          </a:lstStyle>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2 GiB / EC2 / K3s</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Mumbai region</a:t>
            </a:r>
          </a:p>
        </p:txBody>
      </p:sp>
      <p:sp>
        <p:nvSpPr>
          <p:cNvPr id="5" name="Account boundary">
            <a:extLst xmlns:a="http://schemas.openxmlformats.org/drawingml/2006/main">
              <a:ext uri="{FF2B5EF4-FFF2-40B4-BE49-F238E27FC236}">
                <a16:creationId xmlns:a16="http://schemas.microsoft.com/office/drawing/2014/main" id="{36FA93D3-14CB-4437-B8DF-92340C4797C9}"/>
              </a:ext>
            </a:extLst>
          </p:cNvPr>
          <p:cNvSpPr>
            <a:spLocks xmlns:a="http://schemas.openxmlformats.org/drawingml/2006/main" noGrp="1"/>
          </p:cNvSpPr>
          <p:nvPr/>
        </p:nvSpPr>
        <p:spPr>
          <a:xfrm xmlns:a="http://schemas.openxmlformats.org/drawingml/2006/main">
            <a:off x="4324350" y="16192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AF4FC"/>
                </a:solidFill>
                <a:latin typeface="Geist"/>
                <a:ea typeface="Geist"/>
                <a:cs typeface="Geist"/>
              </a:defRPr>
            </a:defPPr>
          </a:lstStyle>
          <a:p xmlns:a="http://schemas.openxmlformats.org/drawingml/2006/main">
            <a:pPr>
              <a:defRPr sz="2325" b="1">
                <a:solidFill>
                  <a:srgbClr val="EAF4FC"/>
                </a:solidFill>
                <a:latin typeface="Geist"/>
                <a:ea typeface="Geist"/>
                <a:cs typeface="Geist"/>
              </a:defRPr>
            </a:pPr>
            <a:r>
              <a:rPr sz="2325" b="1">
                <a:solidFill>
                  <a:srgbClr val="EAF4FC"/>
                </a:solidFill>
                <a:latin typeface="Geist"/>
                <a:ea typeface="Geist"/>
                <a:cs typeface="Geist"/>
              </a:rPr>
              <a:t>Account boundary</a:t>
            </a:r>
          </a:p>
        </p:txBody>
      </p:sp>
      <p:sp>
        <p:nvSpPr>
          <p:cNvPr id="6" name="FREE and ACTIVE&#10;Positive finite credits&#10;No paid-plan upgrade">
            <a:extLst xmlns:a="http://schemas.openxmlformats.org/drawingml/2006/main">
              <a:ext uri="{FF2B5EF4-FFF2-40B4-BE49-F238E27FC236}">
                <a16:creationId xmlns:a16="http://schemas.microsoft.com/office/drawing/2014/main" id="{6C54342E-F6E0-4AB1-AA5E-8BFE7AD224C3}"/>
              </a:ext>
            </a:extLst>
          </p:cNvPr>
          <p:cNvSpPr>
            <a:spLocks xmlns:a="http://schemas.openxmlformats.org/drawingml/2006/main" noGrp="1"/>
          </p:cNvSpPr>
          <p:nvPr/>
        </p:nvSpPr>
        <p:spPr>
          <a:xfrm xmlns:a="http://schemas.openxmlformats.org/drawingml/2006/main">
            <a:off x="4324350" y="22288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BD8B7"/>
                </a:solidFill>
                <a:latin typeface="Geist"/>
                <a:ea typeface="Geist"/>
                <a:cs typeface="Geist"/>
              </a:defRPr>
            </a:defPPr>
          </a:lstStyle>
          <a:p xmlns:a="http://schemas.openxmlformats.org/drawingml/2006/main">
            <a:pPr>
              <a:defRPr sz="1875" b="0">
                <a:solidFill>
                  <a:srgbClr val="9BD8B7"/>
                </a:solidFill>
                <a:latin typeface="Geist"/>
                <a:ea typeface="Geist"/>
                <a:cs typeface="Geist"/>
              </a:defRPr>
            </a:pPr>
            <a:r>
              <a:rPr sz="1875" b="0">
                <a:solidFill>
                  <a:srgbClr val="9BD8B7"/>
                </a:solidFill>
                <a:latin typeface="Geist"/>
                <a:ea typeface="Geist"/>
                <a:cs typeface="Geist"/>
              </a:rPr>
              <a:t>FREE and ACTIVE</a:t>
            </a:r>
          </a:p>
          <a:p xmlns:a="http://schemas.openxmlformats.org/drawingml/2006/main">
            <a:pPr>
              <a:defRPr sz="1875" b="0">
                <a:solidFill>
                  <a:srgbClr val="9BD8B7"/>
                </a:solidFill>
                <a:latin typeface="Geist"/>
                <a:ea typeface="Geist"/>
                <a:cs typeface="Geist"/>
              </a:defRPr>
            </a:pPr>
            <a:r>
              <a:rPr sz="1875" b="0">
                <a:solidFill>
                  <a:srgbClr val="9BD8B7"/>
                </a:solidFill>
                <a:latin typeface="Geist"/>
                <a:ea typeface="Geist"/>
                <a:cs typeface="Geist"/>
              </a:rPr>
              <a:t>Positive finite credits</a:t>
            </a:r>
          </a:p>
          <a:p xmlns:a="http://schemas.openxmlformats.org/drawingml/2006/main">
            <a:pPr>
              <a:defRPr sz="1875" b="0">
                <a:solidFill>
                  <a:srgbClr val="9BD8B7"/>
                </a:solidFill>
                <a:latin typeface="Geist"/>
                <a:ea typeface="Geist"/>
                <a:cs typeface="Geist"/>
              </a:defRPr>
            </a:pPr>
            <a:r>
              <a:rPr sz="1875" b="0">
                <a:solidFill>
                  <a:srgbClr val="9BD8B7"/>
                </a:solidFill>
                <a:latin typeface="Geist"/>
                <a:ea typeface="Geist"/>
                <a:cs typeface="Geist"/>
              </a:rPr>
              <a:t>No paid-plan upgrade</a:t>
            </a:r>
          </a:p>
        </p:txBody>
      </p:sp>
      <p:sp>
        <p:nvSpPr>
          <p:cNvPr id="7" name="Rubric gap: EKS">
            <a:extLst xmlns:a="http://schemas.openxmlformats.org/drawingml/2006/main">
              <a:ext uri="{FF2B5EF4-FFF2-40B4-BE49-F238E27FC236}">
                <a16:creationId xmlns:a16="http://schemas.microsoft.com/office/drawing/2014/main" id="{7826ADC3-6481-4C58-88B0-67F7DFD8BC07}"/>
              </a:ext>
            </a:extLst>
          </p:cNvPr>
          <p:cNvSpPr>
            <a:spLocks xmlns:a="http://schemas.openxmlformats.org/drawingml/2006/main" noGrp="1"/>
          </p:cNvSpPr>
          <p:nvPr/>
        </p:nvSpPr>
        <p:spPr>
          <a:xfrm xmlns:a="http://schemas.openxmlformats.org/drawingml/2006/main">
            <a:off x="8191500" y="161925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BC68B"/>
                </a:solidFill>
                <a:latin typeface="Geist"/>
                <a:ea typeface="Geist"/>
                <a:cs typeface="Geist"/>
              </a:defRPr>
            </a:defPPr>
          </a:lstStyle>
          <a:p xmlns:a="http://schemas.openxmlformats.org/drawingml/2006/main">
            <a:pPr>
              <a:defRPr sz="2325" b="1">
                <a:solidFill>
                  <a:srgbClr val="EBC68B"/>
                </a:solidFill>
                <a:latin typeface="Geist"/>
                <a:ea typeface="Geist"/>
                <a:cs typeface="Geist"/>
              </a:defRPr>
            </a:pPr>
            <a:r>
              <a:rPr sz="2325" b="1">
                <a:solidFill>
                  <a:srgbClr val="EBC68B"/>
                </a:solidFill>
                <a:latin typeface="Geist"/>
                <a:ea typeface="Geist"/>
                <a:cs typeface="Geist"/>
              </a:rPr>
              <a:t>Rubric gap: EKS</a:t>
            </a:r>
          </a:p>
        </p:txBody>
      </p:sp>
      <p:sp>
        <p:nvSpPr>
          <p:cNvPr id="8" name="Source validated.&#10;Apply and destroy&#10;remain unverified.">
            <a:extLst xmlns:a="http://schemas.openxmlformats.org/drawingml/2006/main">
              <a:ext uri="{FF2B5EF4-FFF2-40B4-BE49-F238E27FC236}">
                <a16:creationId xmlns:a16="http://schemas.microsoft.com/office/drawing/2014/main" id="{588DF0C7-17D8-4FCD-B8A7-719AF32797D5}"/>
              </a:ext>
            </a:extLst>
          </p:cNvPr>
          <p:cNvSpPr>
            <a:spLocks xmlns:a="http://schemas.openxmlformats.org/drawingml/2006/main" noGrp="1"/>
          </p:cNvSpPr>
          <p:nvPr/>
        </p:nvSpPr>
        <p:spPr>
          <a:xfrm xmlns:a="http://schemas.openxmlformats.org/drawingml/2006/main">
            <a:off x="8191500" y="2228850"/>
            <a:ext cx="3390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AF4FC"/>
                </a:solidFill>
                <a:latin typeface="Geist"/>
                <a:ea typeface="Geist"/>
                <a:cs typeface="Geist"/>
              </a:defRPr>
            </a:defPPr>
          </a:lstStyle>
          <a:p xmlns:a="http://schemas.openxmlformats.org/drawingml/2006/main">
            <a:pPr>
              <a:defRPr sz="1875" b="0">
                <a:solidFill>
                  <a:srgbClr val="EAF4FC"/>
                </a:solidFill>
                <a:latin typeface="Geist"/>
                <a:ea typeface="Geist"/>
                <a:cs typeface="Geist"/>
              </a:defRPr>
            </a:pPr>
            <a:r>
              <a:rPr sz="1875" b="0">
                <a:solidFill>
                  <a:srgbClr val="EAF4FC"/>
                </a:solidFill>
                <a:latin typeface="Geist"/>
                <a:ea typeface="Geist"/>
                <a:cs typeface="Geist"/>
              </a:rPr>
              <a:t>Source validated.</a:t>
            </a:r>
          </a:p>
          <a:p xmlns:a="http://schemas.openxmlformats.org/drawingml/2006/main">
            <a:pPr>
              <a:defRPr sz="1875" b="0">
                <a:solidFill>
                  <a:srgbClr val="EAF4FC"/>
                </a:solidFill>
                <a:latin typeface="Geist"/>
                <a:ea typeface="Geist"/>
                <a:cs typeface="Geist"/>
              </a:defRPr>
            </a:pPr>
            <a:r>
              <a:rPr sz="1875" b="0">
                <a:solidFill>
                  <a:srgbClr val="EAF4FC"/>
                </a:solidFill>
                <a:latin typeface="Geist"/>
                <a:ea typeface="Geist"/>
                <a:cs typeface="Geist"/>
              </a:rPr>
              <a:t>Apply and destroy</a:t>
            </a:r>
          </a:p>
          <a:p xmlns:a="http://schemas.openxmlformats.org/drawingml/2006/main">
            <a:pPr>
              <a:defRPr sz="1875" b="0">
                <a:solidFill>
                  <a:srgbClr val="EAF4FC"/>
                </a:solidFill>
                <a:latin typeface="Geist"/>
                <a:ea typeface="Geist"/>
                <a:cs typeface="Geist"/>
              </a:defRPr>
            </a:pPr>
            <a:r>
              <a:rPr sz="1875" b="0">
                <a:solidFill>
                  <a:srgbClr val="EAF4FC"/>
                </a:solidFill>
                <a:latin typeface="Geist"/>
                <a:ea typeface="Geist"/>
                <a:cs typeface="Geist"/>
              </a:rPr>
              <a:t>remain unverified.</a:t>
            </a:r>
          </a:p>
        </p:txBody>
      </p:sp>
      <p:pic>
        <p:nvPicPr>
          <p:cNvPr id="9" name="">
            <a:extLst xmlns:a="http://schemas.openxmlformats.org/drawingml/2006/main">
              <a:ext uri="{FF2B5EF4-FFF2-40B4-BE49-F238E27FC236}">
                <a16:creationId xmlns:a16="http://schemas.microsoft.com/office/drawing/2014/main" id="{542D44EB-29C8-46E3-A287-2A8AE1A7B434}"/>
              </a:ext>
            </a:extLst>
          </p:cNvPr>
          <p:cNvPicPr>
            <a:picLocks xmlns:a="http://schemas.openxmlformats.org/drawingml/2006/main" noChangeAspect="1"/>
          </p:cNvPicPr>
          <p:nvPr/>
        </p:nvPicPr>
        <p:blipFill>
          <a:blip xmlns:r="http://schemas.openxmlformats.org/officeDocument/2006/relationships" xmlns:a="http://schemas.openxmlformats.org/drawingml/2006/main" r:embed="R5b4467c60ae94217"/>
          <a:stretch xmlns:a="http://schemas.openxmlformats.org/drawingml/2006/main"/>
        </p:blipFill>
        <p:spPr>
          <a:xfrm xmlns:a="http://schemas.openxmlformats.org/drawingml/2006/main">
            <a:off x="622788" y="3419475"/>
            <a:ext cx="10946423" cy="2857500"/>
          </a:xfrm>
          <a:prstGeom xmlns:a="http://schemas.openxmlformats.org/drawingml/2006/main" prst="rect">
            <a:avLst/>
          </a:prstGeom>
        </p:spPr>
      </p:pic>
    </p:spTree>
    <p:extLst>
      <p:ext uri="{BB962C8B-B14F-4D97-AF65-F5344CB8AC3E}">
        <p14:creationId xmlns:p14="http://schemas.microsoft.com/office/powerpoint/2010/main" val="1450577690"/>
      </p:ext>
    </p:extLst>
  </p:cSld>
</p:sld>
</file>

<file path=ppt/slides/slide9.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12" name="Kubernetes rollout and recovery">
            <a:extLst xmlns:a="http://schemas.openxmlformats.org/drawingml/2006/main">
              <a:ext uri="{FF2B5EF4-FFF2-40B4-BE49-F238E27FC236}">
                <a16:creationId xmlns:a16="http://schemas.microsoft.com/office/drawing/2014/main" id="{500C6340-D26E-4995-9ACB-D33EBE3BC4D3}"/>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Kubernetes rollout and recovery</a:t>
            </a:r>
          </a:p>
        </p:txBody>
      </p:sp>
      <p:sp>
        <p:nvSpPr>
          <p:cNvPr id="2" name="09">
            <a:extLst xmlns:a="http://schemas.openxmlformats.org/drawingml/2006/main">
              <a:ext uri="{FF2B5EF4-FFF2-40B4-BE49-F238E27FC236}">
                <a16:creationId xmlns:a16="http://schemas.microsoft.com/office/drawing/2014/main" id="{017278E4-B959-4914-A773-8870DCC83924}"/>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09</a:t>
            </a:r>
          </a:p>
        </p:txBody>
      </p:sp>
      <p:sp>
        <p:nvSpPr>
          <p:cNvPr id="3" name="2 API   2 frontend   1 worker">
            <a:extLst xmlns:a="http://schemas.openxmlformats.org/drawingml/2006/main">
              <a:ext uri="{FF2B5EF4-FFF2-40B4-BE49-F238E27FC236}">
                <a16:creationId xmlns:a16="http://schemas.microsoft.com/office/drawing/2014/main" id="{6F708A1F-B5CD-4F9B-A804-97C08EB3B4AD}"/>
              </a:ext>
            </a:extLst>
          </p:cNvPr>
          <p:cNvSpPr>
            <a:spLocks xmlns:a="http://schemas.openxmlformats.org/drawingml/2006/main" noGrp="1"/>
          </p:cNvSpPr>
          <p:nvPr/>
        </p:nvSpPr>
        <p:spPr>
          <a:xfrm xmlns:a="http://schemas.openxmlformats.org/drawingml/2006/main">
            <a:off x="609600" y="15335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B5DFFF"/>
                </a:solidFill>
                <a:latin typeface="Geist"/>
                <a:ea typeface="Geist"/>
                <a:cs typeface="Geist"/>
              </a:defRPr>
            </a:defPPr>
          </a:lstStyle>
          <a:p xmlns:a="http://schemas.openxmlformats.org/drawingml/2006/main">
            <a:pPr>
              <a:defRPr sz="3675" b="1">
                <a:solidFill>
                  <a:srgbClr val="B5DFFF"/>
                </a:solidFill>
                <a:latin typeface="Geist"/>
                <a:ea typeface="Geist"/>
                <a:cs typeface="Geist"/>
              </a:defRPr>
            </a:pPr>
            <a:r>
              <a:rPr sz="3675" b="1">
                <a:solidFill>
                  <a:srgbClr val="B5DFFF"/>
                </a:solidFill>
                <a:latin typeface="Geist"/>
                <a:ea typeface="Geist"/>
                <a:cs typeface="Geist"/>
              </a:rPr>
              <a:t>2 API   2 frontend   1 worker</a:t>
            </a:r>
          </a:p>
        </p:txBody>
      </p:sp>
      <p:sp>
        <p:nvSpPr>
          <p:cNvPr id="4" name="Frontend">
            <a:extLst xmlns:a="http://schemas.openxmlformats.org/drawingml/2006/main">
              <a:ext uri="{FF2B5EF4-FFF2-40B4-BE49-F238E27FC236}">
                <a16:creationId xmlns:a16="http://schemas.microsoft.com/office/drawing/2014/main" id="{9E0744BF-3881-481F-BB01-9B68D207A56D}"/>
              </a:ext>
            </a:extLst>
          </p:cNvPr>
          <p:cNvSpPr>
            <a:spLocks xmlns:a="http://schemas.openxmlformats.org/drawingml/2006/main" noGrp="1"/>
          </p:cNvSpPr>
          <p:nvPr/>
        </p:nvSpPr>
        <p:spPr>
          <a:xfrm xmlns:a="http://schemas.openxmlformats.org/drawingml/2006/main">
            <a:off x="609600" y="2819400"/>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AF4FC"/>
                </a:solidFill>
                <a:latin typeface="Geist"/>
                <a:ea typeface="Geist"/>
                <a:cs typeface="Geist"/>
              </a:defRPr>
            </a:defPPr>
          </a:lstStyle>
          <a:p xmlns:a="http://schemas.openxmlformats.org/drawingml/2006/main">
            <a:pPr>
              <a:defRPr sz="2325" b="1">
                <a:solidFill>
                  <a:srgbClr val="EAF4FC"/>
                </a:solidFill>
                <a:latin typeface="Geist"/>
                <a:ea typeface="Geist"/>
                <a:cs typeface="Geist"/>
              </a:defRPr>
            </a:pPr>
            <a:r>
              <a:rPr sz="2325" b="1">
                <a:solidFill>
                  <a:srgbClr val="EAF4FC"/>
                </a:solidFill>
                <a:latin typeface="Geist"/>
                <a:ea typeface="Geist"/>
                <a:cs typeface="Geist"/>
              </a:rPr>
              <a:t>Frontend</a:t>
            </a:r>
          </a:p>
        </p:txBody>
      </p:sp>
      <p:sp>
        <p:nvSpPr>
          <p:cNvPr id="5" name="Recreate avoids mixed&#10;static asset versions.">
            <a:extLst xmlns:a="http://schemas.openxmlformats.org/drawingml/2006/main">
              <a:ext uri="{FF2B5EF4-FFF2-40B4-BE49-F238E27FC236}">
                <a16:creationId xmlns:a16="http://schemas.microsoft.com/office/drawing/2014/main" id="{B4D08150-DF1B-4BE2-A62C-EF141F17DD43}"/>
              </a:ext>
            </a:extLst>
          </p:cNvPr>
          <p:cNvSpPr>
            <a:spLocks xmlns:a="http://schemas.openxmlformats.org/drawingml/2006/main" noGrp="1"/>
          </p:cNvSpPr>
          <p:nvPr/>
        </p:nvSpPr>
        <p:spPr>
          <a:xfrm xmlns:a="http://schemas.openxmlformats.org/drawingml/2006/main">
            <a:off x="609600" y="3409950"/>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AF4FC"/>
                </a:solidFill>
                <a:latin typeface="Geist"/>
                <a:ea typeface="Geist"/>
                <a:cs typeface="Geist"/>
              </a:defRPr>
            </a:defPPr>
          </a:lstStyle>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Recreate avoids mixed</a:t>
            </a:r>
          </a:p>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static asset versions.</a:t>
            </a:r>
          </a:p>
        </p:txBody>
      </p:sp>
      <p:sp>
        <p:nvSpPr>
          <p:cNvPr id="6" name="API">
            <a:extLst xmlns:a="http://schemas.openxmlformats.org/drawingml/2006/main">
              <a:ext uri="{FF2B5EF4-FFF2-40B4-BE49-F238E27FC236}">
                <a16:creationId xmlns:a16="http://schemas.microsoft.com/office/drawing/2014/main" id="{2E92A2AE-DB21-4B4A-9F7D-4008D415FDDB}"/>
              </a:ext>
            </a:extLst>
          </p:cNvPr>
          <p:cNvSpPr>
            <a:spLocks xmlns:a="http://schemas.openxmlformats.org/drawingml/2006/main" noGrp="1"/>
          </p:cNvSpPr>
          <p:nvPr/>
        </p:nvSpPr>
        <p:spPr>
          <a:xfrm xmlns:a="http://schemas.openxmlformats.org/drawingml/2006/main">
            <a:off x="4381500" y="2819400"/>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AF4FC"/>
                </a:solidFill>
                <a:latin typeface="Geist"/>
                <a:ea typeface="Geist"/>
                <a:cs typeface="Geist"/>
              </a:defRPr>
            </a:defPPr>
          </a:lstStyle>
          <a:p xmlns:a="http://schemas.openxmlformats.org/drawingml/2006/main">
            <a:pPr>
              <a:defRPr sz="2325" b="1">
                <a:solidFill>
                  <a:srgbClr val="EAF4FC"/>
                </a:solidFill>
                <a:latin typeface="Geist"/>
                <a:ea typeface="Geist"/>
                <a:cs typeface="Geist"/>
              </a:defRPr>
            </a:pPr>
            <a:r>
              <a:rPr sz="2325" b="1">
                <a:solidFill>
                  <a:srgbClr val="EAF4FC"/>
                </a:solidFill>
                <a:latin typeface="Geist"/>
                <a:ea typeface="Geist"/>
                <a:cs typeface="Geist"/>
              </a:rPr>
              <a:t>API</a:t>
            </a:r>
          </a:p>
        </p:txBody>
      </p:sp>
      <p:sp>
        <p:nvSpPr>
          <p:cNvPr id="7" name="Zero surge reduces&#10;peak rollout memory.">
            <a:extLst xmlns:a="http://schemas.openxmlformats.org/drawingml/2006/main">
              <a:ext uri="{FF2B5EF4-FFF2-40B4-BE49-F238E27FC236}">
                <a16:creationId xmlns:a16="http://schemas.microsoft.com/office/drawing/2014/main" id="{2DD1D0D1-79C6-462A-ABB3-A91EF86074BF}"/>
              </a:ext>
            </a:extLst>
          </p:cNvPr>
          <p:cNvSpPr>
            <a:spLocks xmlns:a="http://schemas.openxmlformats.org/drawingml/2006/main" noGrp="1"/>
          </p:cNvSpPr>
          <p:nvPr/>
        </p:nvSpPr>
        <p:spPr>
          <a:xfrm xmlns:a="http://schemas.openxmlformats.org/drawingml/2006/main">
            <a:off x="4381500" y="3409950"/>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AF4FC"/>
                </a:solidFill>
                <a:latin typeface="Geist"/>
                <a:ea typeface="Geist"/>
                <a:cs typeface="Geist"/>
              </a:defRPr>
            </a:defPPr>
          </a:lstStyle>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Zero surge reduces</a:t>
            </a:r>
          </a:p>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peak rollout memory.</a:t>
            </a:r>
          </a:p>
        </p:txBody>
      </p:sp>
      <p:sp>
        <p:nvSpPr>
          <p:cNvPr id="8" name="Recovery">
            <a:extLst xmlns:a="http://schemas.openxmlformats.org/drawingml/2006/main">
              <a:ext uri="{FF2B5EF4-FFF2-40B4-BE49-F238E27FC236}">
                <a16:creationId xmlns:a16="http://schemas.microsoft.com/office/drawing/2014/main" id="{E07E3070-BEED-4034-9E2A-09B099C38123}"/>
              </a:ext>
            </a:extLst>
          </p:cNvPr>
          <p:cNvSpPr>
            <a:spLocks xmlns:a="http://schemas.openxmlformats.org/drawingml/2006/main" noGrp="1"/>
          </p:cNvSpPr>
          <p:nvPr/>
        </p:nvSpPr>
        <p:spPr>
          <a:xfrm xmlns:a="http://schemas.openxmlformats.org/drawingml/2006/main">
            <a:off x="8153400" y="28194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EAF4FC"/>
                </a:solidFill>
                <a:latin typeface="Geist"/>
                <a:ea typeface="Geist"/>
                <a:cs typeface="Geist"/>
              </a:defRPr>
            </a:defPPr>
          </a:lstStyle>
          <a:p xmlns:a="http://schemas.openxmlformats.org/drawingml/2006/main">
            <a:pPr>
              <a:defRPr sz="2325" b="1">
                <a:solidFill>
                  <a:srgbClr val="EAF4FC"/>
                </a:solidFill>
                <a:latin typeface="Geist"/>
                <a:ea typeface="Geist"/>
                <a:cs typeface="Geist"/>
              </a:defRPr>
            </a:pPr>
            <a:r>
              <a:rPr sz="2325" b="1">
                <a:solidFill>
                  <a:srgbClr val="EAF4FC"/>
                </a:solidFill>
                <a:latin typeface="Geist"/>
                <a:ea typeface="Geist"/>
                <a:cs typeface="Geist"/>
              </a:rPr>
              <a:t>Recovery</a:t>
            </a:r>
          </a:p>
        </p:txBody>
      </p:sp>
      <p:sp>
        <p:nvSpPr>
          <p:cNvPr id="9" name="Migrations gate startup.&#10;Route errors offer retry.">
            <a:extLst xmlns:a="http://schemas.openxmlformats.org/drawingml/2006/main">
              <a:ext uri="{FF2B5EF4-FFF2-40B4-BE49-F238E27FC236}">
                <a16:creationId xmlns:a16="http://schemas.microsoft.com/office/drawing/2014/main" id="{DA570865-32FC-47C0-99E3-8D8A108D0521}"/>
              </a:ext>
            </a:extLst>
          </p:cNvPr>
          <p:cNvSpPr>
            <a:spLocks xmlns:a="http://schemas.openxmlformats.org/drawingml/2006/main" noGrp="1"/>
          </p:cNvSpPr>
          <p:nvPr/>
        </p:nvSpPr>
        <p:spPr>
          <a:xfrm xmlns:a="http://schemas.openxmlformats.org/drawingml/2006/main">
            <a:off x="8153400" y="340995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AF4FC"/>
                </a:solidFill>
                <a:latin typeface="Geist"/>
                <a:ea typeface="Geist"/>
                <a:cs typeface="Geist"/>
              </a:defRPr>
            </a:defPPr>
          </a:lstStyle>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Migrations gate startup.</a:t>
            </a:r>
          </a:p>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Route errors offer retry.</a:t>
            </a:r>
          </a:p>
        </p:txBody>
      </p:sp>
      <p:sp>
        <p:nvSpPr>
          <p:cNvPr id="10" name="HPA: 2 to 4, then back to 2">
            <a:extLst xmlns:a="http://schemas.openxmlformats.org/drawingml/2006/main">
              <a:ext uri="{FF2B5EF4-FFF2-40B4-BE49-F238E27FC236}">
                <a16:creationId xmlns:a16="http://schemas.microsoft.com/office/drawing/2014/main" id="{45CC2423-5F8E-4577-B7D6-0CBAEFD7A901}"/>
              </a:ext>
            </a:extLst>
          </p:cNvPr>
          <p:cNvSpPr>
            <a:spLocks xmlns:a="http://schemas.openxmlformats.org/drawingml/2006/main" noGrp="1"/>
          </p:cNvSpPr>
          <p:nvPr/>
        </p:nvSpPr>
        <p:spPr>
          <a:xfrm xmlns:a="http://schemas.openxmlformats.org/drawingml/2006/main">
            <a:off x="609600" y="52292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9BD8B7"/>
                </a:solidFill>
                <a:latin typeface="Geist"/>
                <a:ea typeface="Geist"/>
                <a:cs typeface="Geist"/>
              </a:defRPr>
            </a:defPPr>
          </a:lstStyle>
          <a:p xmlns:a="http://schemas.openxmlformats.org/drawingml/2006/main">
            <a:pPr>
              <a:defRPr sz="2850" b="1">
                <a:solidFill>
                  <a:srgbClr val="9BD8B7"/>
                </a:solidFill>
                <a:latin typeface="Geist"/>
                <a:ea typeface="Geist"/>
                <a:cs typeface="Geist"/>
              </a:defRPr>
            </a:pPr>
            <a:r>
              <a:rPr sz="2850" b="1">
                <a:solidFill>
                  <a:srgbClr val="9BD8B7"/>
                </a:solidFill>
                <a:latin typeface="Geist"/>
                <a:ea typeface="Geist"/>
                <a:cs typeface="Geist"/>
              </a:rPr>
              <a:t>HPA: 2 to 4, then back to 2</a:t>
            </a:r>
          </a:p>
        </p:txBody>
      </p:sp>
      <p:sp>
        <p:nvSpPr>
          <p:cNvPr id="11" name="Six readiness checks passed on the 2 GiB host.">
            <a:extLst xmlns:a="http://schemas.openxmlformats.org/drawingml/2006/main">
              <a:ext uri="{FF2B5EF4-FFF2-40B4-BE49-F238E27FC236}">
                <a16:creationId xmlns:a16="http://schemas.microsoft.com/office/drawing/2014/main" id="{C872E139-D891-47F8-BB21-2AC604A8B2AB}"/>
              </a:ext>
            </a:extLst>
          </p:cNvPr>
          <p:cNvSpPr>
            <a:spLocks xmlns:a="http://schemas.openxmlformats.org/drawingml/2006/main" noGrp="1"/>
          </p:cNvSpPr>
          <p:nvPr/>
        </p:nvSpPr>
        <p:spPr>
          <a:xfrm xmlns:a="http://schemas.openxmlformats.org/drawingml/2006/main">
            <a:off x="609600" y="58388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CABBB"/>
                </a:solidFill>
                <a:latin typeface="Geist"/>
                <a:ea typeface="Geist"/>
                <a:cs typeface="Geist"/>
              </a:defRPr>
            </a:defPPr>
          </a:lstStyle>
          <a:p xmlns:a="http://schemas.openxmlformats.org/drawingml/2006/main">
            <a:pPr>
              <a:defRPr sz="1875" b="0">
                <a:solidFill>
                  <a:srgbClr val="9CABBB"/>
                </a:solidFill>
                <a:latin typeface="Geist"/>
                <a:ea typeface="Geist"/>
                <a:cs typeface="Geist"/>
              </a:defRPr>
            </a:pPr>
            <a:r>
              <a:rPr sz="1875" b="0">
                <a:solidFill>
                  <a:srgbClr val="9CABBB"/>
                </a:solidFill>
                <a:latin typeface="Geist"/>
                <a:ea typeface="Geist"/>
                <a:cs typeface="Geist"/>
              </a:rPr>
              <a:t>Six readiness checks passed on the 2 GiB host.</a:t>
            </a:r>
          </a:p>
        </p:txBody>
      </p:sp>
    </p:spTree>
    <p:extLst>
      <p:ext uri="{BB962C8B-B14F-4D97-AF65-F5344CB8AC3E}">
        <p14:creationId xmlns:p14="http://schemas.microsoft.com/office/powerpoint/2010/main" val="1165413846"/>
      </p:ext>
    </p:extLst>
  </p:cSld>
</p:sld>
</file>

<file path=ppt/slides/slide10.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2368DF6A-F61B-4B00-8B9B-5B5FFC08A3F6}"/>
              </a:ext>
            </a:extLst>
          </p:cNvPr>
          <p:cNvCxnSpPr>
            <a:stCxn xmlns:a="http://schemas.openxmlformats.org/drawingml/2006/main" id="4" idx="3"/>
            <a:endCxn xmlns:a="http://schemas.openxmlformats.org/drawingml/2006/main" id="5" idx="1"/>
          </p:cNvCxnSpPr>
          <p:nvPr/>
        </p:nvCxnSpPr>
        <p:spPr>
          <a:xfrm xmlns:a="http://schemas.openxmlformats.org/drawingml/2006/main">
            <a:off x="7562850" y="2781300"/>
            <a:ext cx="104775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F5190ADD-0FCC-4A77-AEBE-102F600F39EC}"/>
              </a:ext>
            </a:extLst>
          </p:cNvPr>
          <p:cNvCxnSpPr>
            <a:stCxn xmlns:a="http://schemas.openxmlformats.org/drawingml/2006/main" id="3" idx="3"/>
            <a:endCxn xmlns:a="http://schemas.openxmlformats.org/drawingml/2006/main" id="4" idx="1"/>
          </p:cNvCxnSpPr>
          <p:nvPr/>
        </p:nvCxnSpPr>
        <p:spPr>
          <a:xfrm xmlns:a="http://schemas.openxmlformats.org/drawingml/2006/main">
            <a:off x="3562350" y="2781300"/>
            <a:ext cx="1047750" cy="0"/>
          </a:xfrm>
          <a:prstGeom xmlns:a="http://schemas.openxmlformats.org/drawingml/2006/main" prst="straightConnector1">
            <a:avLst/>
          </a:prstGeom>
          <a:ln xmlns:a="http://schemas.openxmlformats.org/drawingml/2006/main" w="19050">
            <a:solidFill>
              <a:srgbClr val="B5DFFF"/>
            </a:solidFill>
            <a:prstDash val="solid"/>
            <a:tailEnd type="arrow" w="med" len="med"/>
          </a:ln>
        </p:spPr>
      </p:cxnSp>
      <p:sp>
        <p:nvSpPr>
          <p:cNvPr id="10" name="GitOps with Argo CD">
            <a:extLst xmlns:a="http://schemas.openxmlformats.org/drawingml/2006/main">
              <a:ext uri="{FF2B5EF4-FFF2-40B4-BE49-F238E27FC236}">
                <a16:creationId xmlns:a16="http://schemas.microsoft.com/office/drawing/2014/main" id="{033D6C7C-C7E0-4EF6-BABE-969B6FFF3CD5}"/>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GitOps with Argo CD</a:t>
            </a:r>
          </a:p>
        </p:txBody>
      </p:sp>
      <p:sp>
        <p:nvSpPr>
          <p:cNvPr id="2" name="10">
            <a:extLst xmlns:a="http://schemas.openxmlformats.org/drawingml/2006/main">
              <a:ext uri="{FF2B5EF4-FFF2-40B4-BE49-F238E27FC236}">
                <a16:creationId xmlns:a16="http://schemas.microsoft.com/office/drawing/2014/main" id="{B104D1F2-714C-4D8C-AB10-143EA303F6F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10</a:t>
            </a:r>
          </a:p>
        </p:txBody>
      </p:sp>
      <p:sp>
        <p:nvSpPr>
          <p:cNvPr id="3" name="Git repository&#10;Helm + image SHA">
            <a:extLst xmlns:a="http://schemas.openxmlformats.org/drawingml/2006/main">
              <a:ext uri="{FF2B5EF4-FFF2-40B4-BE49-F238E27FC236}">
                <a16:creationId xmlns:a16="http://schemas.microsoft.com/office/drawing/2014/main" id="{86772630-5989-4BD1-B7F0-E945990B9810}"/>
              </a:ext>
            </a:extLst>
          </p:cNvPr>
          <p:cNvSpPr>
            <a:spLocks xmlns:a="http://schemas.openxmlformats.org/drawingml/2006/main" noGrp="1"/>
          </p:cNvSpPr>
          <p:nvPr/>
        </p:nvSpPr>
        <p:spPr>
          <a:xfrm xmlns:a="http://schemas.openxmlformats.org/drawingml/2006/main">
            <a:off x="609600" y="2209800"/>
            <a:ext cx="2952750" cy="11430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2250" b="0">
                <a:solidFill>
                  <a:srgbClr val="EAF4FC"/>
                </a:solidFill>
                <a:latin typeface="Geist"/>
                <a:ea typeface="Geist"/>
                <a:cs typeface="Geist"/>
              </a:defRPr>
            </a:defPPr>
          </a:lstStyle>
          <a:p xmlns:a="http://schemas.openxmlformats.org/drawingml/2006/main">
            <a:pPr algn="ctr">
              <a:defRPr sz="2250" b="0">
                <a:solidFill>
                  <a:srgbClr val="EAF4FC"/>
                </a:solidFill>
                <a:latin typeface="Geist"/>
                <a:ea typeface="Geist"/>
                <a:cs typeface="Geist"/>
              </a:defRPr>
            </a:pPr>
            <a:r>
              <a:rPr sz="2250" b="0">
                <a:solidFill>
                  <a:srgbClr val="EAF4FC"/>
                </a:solidFill>
                <a:latin typeface="Geist"/>
                <a:ea typeface="Geist"/>
                <a:cs typeface="Geist"/>
              </a:rPr>
              <a:t>Git repository</a:t>
            </a:r>
          </a:p>
          <a:p xmlns:a="http://schemas.openxmlformats.org/drawingml/2006/main">
            <a:pPr algn="ctr">
              <a:defRPr sz="2250" b="0">
                <a:solidFill>
                  <a:srgbClr val="EAF4FC"/>
                </a:solidFill>
                <a:latin typeface="Geist"/>
                <a:ea typeface="Geist"/>
                <a:cs typeface="Geist"/>
              </a:defRPr>
            </a:pPr>
            <a:r>
              <a:rPr sz="2250" b="0">
                <a:solidFill>
                  <a:srgbClr val="EAF4FC"/>
                </a:solidFill>
                <a:latin typeface="Geist"/>
                <a:ea typeface="Geist"/>
                <a:cs typeface="Geist"/>
              </a:rPr>
              <a:t>Helm + image SHA</a:t>
            </a:r>
          </a:p>
        </p:txBody>
      </p:sp>
      <p:sp>
        <p:nvSpPr>
          <p:cNvPr id="4" name="Argo CD&#10;reconciliation">
            <a:extLst xmlns:a="http://schemas.openxmlformats.org/drawingml/2006/main">
              <a:ext uri="{FF2B5EF4-FFF2-40B4-BE49-F238E27FC236}">
                <a16:creationId xmlns:a16="http://schemas.microsoft.com/office/drawing/2014/main" id="{A9442BEB-7EA1-48BC-A8C7-49B3452386DD}"/>
              </a:ext>
            </a:extLst>
          </p:cNvPr>
          <p:cNvSpPr>
            <a:spLocks xmlns:a="http://schemas.openxmlformats.org/drawingml/2006/main" noGrp="1"/>
          </p:cNvSpPr>
          <p:nvPr/>
        </p:nvSpPr>
        <p:spPr>
          <a:xfrm xmlns:a="http://schemas.openxmlformats.org/drawingml/2006/main">
            <a:off x="4610100" y="2209800"/>
            <a:ext cx="2952750" cy="11430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2250" b="0">
                <a:solidFill>
                  <a:srgbClr val="EAF4FC"/>
                </a:solidFill>
                <a:latin typeface="Geist"/>
                <a:ea typeface="Geist"/>
                <a:cs typeface="Geist"/>
              </a:defRPr>
            </a:defPPr>
          </a:lstStyle>
          <a:p xmlns:a="http://schemas.openxmlformats.org/drawingml/2006/main">
            <a:pPr algn="ctr">
              <a:defRPr sz="2250" b="0">
                <a:solidFill>
                  <a:srgbClr val="EAF4FC"/>
                </a:solidFill>
                <a:latin typeface="Geist"/>
                <a:ea typeface="Geist"/>
                <a:cs typeface="Geist"/>
              </a:defRPr>
            </a:pPr>
            <a:r>
              <a:rPr sz="2250" b="0">
                <a:solidFill>
                  <a:srgbClr val="EAF4FC"/>
                </a:solidFill>
                <a:latin typeface="Geist"/>
                <a:ea typeface="Geist"/>
                <a:cs typeface="Geist"/>
              </a:rPr>
              <a:t>Argo CD</a:t>
            </a:r>
          </a:p>
          <a:p xmlns:a="http://schemas.openxmlformats.org/drawingml/2006/main">
            <a:pPr algn="ctr">
              <a:defRPr sz="2250" b="0">
                <a:solidFill>
                  <a:srgbClr val="EAF4FC"/>
                </a:solidFill>
                <a:latin typeface="Geist"/>
                <a:ea typeface="Geist"/>
                <a:cs typeface="Geist"/>
              </a:defRPr>
            </a:pPr>
            <a:r>
              <a:rPr sz="2250" b="0">
                <a:solidFill>
                  <a:srgbClr val="EAF4FC"/>
                </a:solidFill>
                <a:latin typeface="Geist"/>
                <a:ea typeface="Geist"/>
                <a:cs typeface="Geist"/>
              </a:rPr>
              <a:t>reconciliation</a:t>
            </a:r>
          </a:p>
        </p:txBody>
      </p:sp>
      <p:sp>
        <p:nvSpPr>
          <p:cNvPr id="5" name="Isolated preview&#10;1 API + 1 frontend">
            <a:extLst xmlns:a="http://schemas.openxmlformats.org/drawingml/2006/main">
              <a:ext uri="{FF2B5EF4-FFF2-40B4-BE49-F238E27FC236}">
                <a16:creationId xmlns:a16="http://schemas.microsoft.com/office/drawing/2014/main" id="{0B5ACB5E-AB80-4054-AC5D-C66850D6F957}"/>
              </a:ext>
            </a:extLst>
          </p:cNvPr>
          <p:cNvSpPr>
            <a:spLocks xmlns:a="http://schemas.openxmlformats.org/drawingml/2006/main" noGrp="1"/>
          </p:cNvSpPr>
          <p:nvPr/>
        </p:nvSpPr>
        <p:spPr>
          <a:xfrm xmlns:a="http://schemas.openxmlformats.org/drawingml/2006/main">
            <a:off x="8610600" y="2209800"/>
            <a:ext cx="2952750" cy="1143000"/>
          </a:xfrm>
          <a:prstGeom xmlns:a="http://schemas.openxmlformats.org/drawingml/2006/main" prst="rect">
            <a:avLst/>
          </a:prstGeom>
          <a:solidFill xmlns:a="http://schemas.openxmlformats.org/drawingml/2006/main">
            <a:srgbClr val="101F2E"/>
          </a:solidFill>
          <a:ln xmlns:a="http://schemas.openxmlformats.org/drawingml/2006/main" w="14288">
            <a:solidFill>
              <a:srgbClr val="324557"/>
            </a:solidFill>
            <a:prstDash val="solid"/>
          </a:ln>
        </p:spPr>
        <p:txBody>
          <a:bodyPr xmlns:a="http://schemas.openxmlformats.org/drawingml/2006/main" lIns="114300" tIns="114300" rIns="114300" bIns="114300" anchor="ctr">
            <a:noAutofit/>
          </a:bodyPr>
          <a:lstStyle xmlns:a="http://schemas.openxmlformats.org/drawingml/2006/main">
            <a:defPPr algn="ctr">
              <a:defRPr sz="2175" b="0">
                <a:solidFill>
                  <a:srgbClr val="EAF4FC"/>
                </a:solidFill>
                <a:latin typeface="Geist"/>
                <a:ea typeface="Geist"/>
                <a:cs typeface="Geist"/>
              </a:defRPr>
            </a:defPPr>
          </a:lstStyle>
          <a:p xmlns:a="http://schemas.openxmlformats.org/drawingml/2006/main">
            <a:pPr algn="ctr">
              <a:defRPr sz="2175" b="0">
                <a:solidFill>
                  <a:srgbClr val="EAF4FC"/>
                </a:solidFill>
                <a:latin typeface="Geist"/>
                <a:ea typeface="Geist"/>
                <a:cs typeface="Geist"/>
              </a:defRPr>
            </a:pPr>
            <a:r>
              <a:rPr sz="2175" b="0">
                <a:solidFill>
                  <a:srgbClr val="EAF4FC"/>
                </a:solidFill>
                <a:latin typeface="Geist"/>
                <a:ea typeface="Geist"/>
                <a:cs typeface="Geist"/>
              </a:rPr>
              <a:t>Isolated preview</a:t>
            </a:r>
          </a:p>
          <a:p xmlns:a="http://schemas.openxmlformats.org/drawingml/2006/main">
            <a:pPr algn="ctr">
              <a:defRPr sz="2175" b="0">
                <a:solidFill>
                  <a:srgbClr val="EAF4FC"/>
                </a:solidFill>
                <a:latin typeface="Geist"/>
                <a:ea typeface="Geist"/>
                <a:cs typeface="Geist"/>
              </a:defRPr>
            </a:pPr>
            <a:r>
              <a:rPr sz="2175" b="0">
                <a:solidFill>
                  <a:srgbClr val="EAF4FC"/>
                </a:solidFill>
                <a:latin typeface="Geist"/>
                <a:ea typeface="Geist"/>
                <a:cs typeface="Geist"/>
              </a:rPr>
              <a:t>1 API + 1 frontend</a:t>
            </a:r>
          </a:p>
        </p:txBody>
      </p:sp>
      <p:sp>
        <p:nvSpPr>
          <p:cNvPr id="8" name="Synced and Healthy">
            <a:extLst xmlns:a="http://schemas.openxmlformats.org/drawingml/2006/main">
              <a:ext uri="{FF2B5EF4-FFF2-40B4-BE49-F238E27FC236}">
                <a16:creationId xmlns:a16="http://schemas.microsoft.com/office/drawing/2014/main" id="{2F198A92-8C27-4A58-9A82-40AB413C71F8}"/>
              </a:ext>
            </a:extLst>
          </p:cNvPr>
          <p:cNvSpPr>
            <a:spLocks xmlns:a="http://schemas.openxmlformats.org/drawingml/2006/main" noGrp="1"/>
          </p:cNvSpPr>
          <p:nvPr/>
        </p:nvSpPr>
        <p:spPr>
          <a:xfrm xmlns:a="http://schemas.openxmlformats.org/drawingml/2006/main">
            <a:off x="609600" y="41624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9BD8B7"/>
                </a:solidFill>
                <a:latin typeface="Geist"/>
                <a:ea typeface="Geist"/>
                <a:cs typeface="Geist"/>
              </a:defRPr>
            </a:defPPr>
          </a:lstStyle>
          <a:p xmlns:a="http://schemas.openxmlformats.org/drawingml/2006/main">
            <a:pPr>
              <a:defRPr sz="3600" b="1">
                <a:solidFill>
                  <a:srgbClr val="9BD8B7"/>
                </a:solidFill>
                <a:latin typeface="Geist"/>
                <a:ea typeface="Geist"/>
                <a:cs typeface="Geist"/>
              </a:defRPr>
            </a:pPr>
            <a:r>
              <a:rPr sz="3600" b="1">
                <a:solidFill>
                  <a:srgbClr val="9BD8B7"/>
                </a:solidFill>
                <a:latin typeface="Geist"/>
                <a:ea typeface="Geist"/>
                <a:cs typeface="Geist"/>
              </a:rPr>
              <a:t>Synced and Healthy</a:t>
            </a:r>
          </a:p>
        </p:txBody>
      </p:sp>
      <p:sp>
        <p:nvSpPr>
          <p:cNvPr id="9" name="vigil-preview / automatic Git promotion&#10;Synced Git revision ">
            <a:extLst xmlns:a="http://schemas.openxmlformats.org/drawingml/2006/main">
              <a:ext uri="{FF2B5EF4-FFF2-40B4-BE49-F238E27FC236}">
                <a16:creationId xmlns:a16="http://schemas.microsoft.com/office/drawing/2014/main" id="{7334FD0F-3871-440C-B719-079056DE7CA1}"/>
              </a:ext>
            </a:extLst>
          </p:cNvPr>
          <p:cNvSpPr>
            <a:spLocks xmlns:a="http://schemas.openxmlformats.org/drawingml/2006/main" noGrp="1"/>
          </p:cNvSpPr>
          <p:nvPr/>
        </p:nvSpPr>
        <p:spPr>
          <a:xfrm xmlns:a="http://schemas.openxmlformats.org/drawingml/2006/main">
            <a:off x="609600" y="4991100"/>
            <a:ext cx="10572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9CABBB"/>
                </a:solidFill>
                <a:latin typeface="Geist"/>
                <a:ea typeface="Geist"/>
                <a:cs typeface="Geist"/>
              </a:defRPr>
            </a:defPPr>
          </a:lstStyle>
          <a:p xmlns:a="http://schemas.openxmlformats.org/drawingml/2006/main">
            <a:pPr>
              <a:defRPr sz="2025" b="0">
                <a:solidFill>
                  <a:srgbClr val="9CABBB"/>
                </a:solidFill>
                <a:latin typeface="Geist"/>
                <a:ea typeface="Geist"/>
                <a:cs typeface="Geist"/>
              </a:defRPr>
            </a:pPr>
            <a:r>
              <a:rPr sz="2025" b="0">
                <a:solidFill>
                  <a:srgbClr val="9CABBB"/>
                </a:solidFill>
                <a:latin typeface="Geist"/>
                <a:ea typeface="Geist"/>
                <a:cs typeface="Geist"/>
              </a:rPr>
              <a:t>vigil-preview / automatic Git promotion</a:t>
            </a:r>
          </a:p>
          <a:p xmlns:a="http://schemas.openxmlformats.org/drawingml/2006/main">
            <a:pPr>
              <a:defRPr sz="2025" b="0">
                <a:solidFill>
                  <a:srgbClr val="9CABBB"/>
                </a:solidFill>
                <a:latin typeface="Geist"/>
                <a:ea typeface="Geist"/>
                <a:cs typeface="Geist"/>
              </a:defRPr>
            </a:pPr>
            <a:r>
              <a:rPr sz="2025" b="0">
                <a:solidFill>
                  <a:srgbClr val="9CABBB"/>
                </a:solidFill>
                <a:latin typeface="Geist"/>
                <a:ea typeface="Geist"/>
                <a:cs typeface="Geist"/>
              </a:rPr>
              <a:t>Synced Git revision 33f8e1f4e01e</a:t>
            </a:r>
          </a:p>
          <a:p xmlns:a="http://schemas.openxmlformats.org/drawingml/2006/main">
            <a:pPr>
              <a:defRPr sz="2025" b="0">
                <a:solidFill>
                  <a:srgbClr val="9CABBB"/>
                </a:solidFill>
                <a:latin typeface="Geist"/>
                <a:ea typeface="Geist"/>
                <a:cs typeface="Geist"/>
              </a:defRPr>
            </a:pPr>
            <a:r>
              <a:rPr sz="2025" b="0">
                <a:solidFill>
                  <a:srgbClr val="9CABBB"/>
                </a:solidFill>
                <a:latin typeface="Geist"/>
                <a:ea typeface="Geist"/>
                <a:cs typeface="Geist"/>
              </a:rPr>
              <a:t>Production remains owned by Helm.</a:t>
            </a:r>
          </a:p>
        </p:txBody>
      </p:sp>
    </p:spTree>
    <p:extLst>
      <p:ext uri="{BB962C8B-B14F-4D97-AF65-F5344CB8AC3E}">
        <p14:creationId xmlns:p14="http://schemas.microsoft.com/office/powerpoint/2010/main" val="1869749752"/>
      </p:ext>
    </p:extLst>
  </p:cSld>
</p:sld>
</file>

<file path=ppt/slides/slide11.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8" name="Live observability">
            <a:extLst xmlns:a="http://schemas.openxmlformats.org/drawingml/2006/main">
              <a:ext uri="{FF2B5EF4-FFF2-40B4-BE49-F238E27FC236}">
                <a16:creationId xmlns:a16="http://schemas.microsoft.com/office/drawing/2014/main" id="{D51D83CF-C1BA-4BAB-96F7-52BAACBCCFF0}"/>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Live observability</a:t>
            </a:r>
          </a:p>
        </p:txBody>
      </p:sp>
      <p:sp>
        <p:nvSpPr>
          <p:cNvPr id="2" name="11">
            <a:extLst xmlns:a="http://schemas.openxmlformats.org/drawingml/2006/main">
              <a:ext uri="{FF2B5EF4-FFF2-40B4-BE49-F238E27FC236}">
                <a16:creationId xmlns:a16="http://schemas.microsoft.com/office/drawing/2014/main" id="{9E095AD2-DCE8-43E1-B79A-3C1DFE35698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11</a:t>
            </a:r>
          </a:p>
        </p:txBody>
      </p:sp>
      <p:sp>
        <p:nvSpPr>
          <p:cNvPr id="3" name="Actual application&#10;metrics">
            <a:extLst xmlns:a="http://schemas.openxmlformats.org/drawingml/2006/main">
              <a:ext uri="{FF2B5EF4-FFF2-40B4-BE49-F238E27FC236}">
                <a16:creationId xmlns:a16="http://schemas.microsoft.com/office/drawing/2014/main" id="{3AC5D51B-F8A2-4FF7-9D7D-4C71C38F45B9}"/>
              </a:ext>
            </a:extLst>
          </p:cNvPr>
          <p:cNvSpPr>
            <a:spLocks xmlns:a="http://schemas.openxmlformats.org/drawingml/2006/main" noGrp="1"/>
          </p:cNvSpPr>
          <p:nvPr/>
        </p:nvSpPr>
        <p:spPr>
          <a:xfrm xmlns:a="http://schemas.openxmlformats.org/drawingml/2006/main">
            <a:off x="609600" y="1743075"/>
            <a:ext cx="4143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B5DFFF"/>
                </a:solidFill>
                <a:latin typeface="Geist"/>
                <a:ea typeface="Geist"/>
                <a:cs typeface="Geist"/>
              </a:defRPr>
            </a:defPPr>
          </a:lstStyle>
          <a:p xmlns:a="http://schemas.openxmlformats.org/drawingml/2006/main">
            <a:pPr>
              <a:defRPr sz="3000" b="1">
                <a:solidFill>
                  <a:srgbClr val="B5DFFF"/>
                </a:solidFill>
                <a:latin typeface="Geist"/>
                <a:ea typeface="Geist"/>
                <a:cs typeface="Geist"/>
              </a:defRPr>
            </a:pPr>
            <a:r>
              <a:rPr sz="3000" b="1">
                <a:solidFill>
                  <a:srgbClr val="B5DFFF"/>
                </a:solidFill>
                <a:latin typeface="Geist"/>
                <a:ea typeface="Geist"/>
                <a:cs typeface="Geist"/>
              </a:rPr>
              <a:t>Actual application</a:t>
            </a:r>
          </a:p>
          <a:p xmlns:a="http://schemas.openxmlformats.org/drawingml/2006/main">
            <a:pPr>
              <a:defRPr sz="3000" b="1">
                <a:solidFill>
                  <a:srgbClr val="B5DFFF"/>
                </a:solidFill>
                <a:latin typeface="Geist"/>
                <a:ea typeface="Geist"/>
                <a:cs typeface="Geist"/>
              </a:defRPr>
            </a:pPr>
            <a:r>
              <a:rPr sz="3000" b="1">
                <a:solidFill>
                  <a:srgbClr val="B5DFFF"/>
                </a:solidFill>
                <a:latin typeface="Geist"/>
                <a:ea typeface="Geist"/>
                <a:cs typeface="Geist"/>
              </a:rPr>
              <a:t>metrics</a:t>
            </a:r>
          </a:p>
        </p:txBody>
      </p:sp>
      <p:sp>
        <p:nvSpPr>
          <p:cNvPr id="4" name="Healthy API targets&#10;Request rate and p95 latency&#10;HTTP 5xx ra">
            <a:extLst xmlns:a="http://schemas.openxmlformats.org/drawingml/2006/main">
              <a:ext uri="{FF2B5EF4-FFF2-40B4-BE49-F238E27FC236}">
                <a16:creationId xmlns:a16="http://schemas.microsoft.com/office/drawing/2014/main" id="{835521B2-9448-47BE-B4E3-464EB6556C16}"/>
              </a:ext>
            </a:extLst>
          </p:cNvPr>
          <p:cNvSpPr>
            <a:spLocks xmlns:a="http://schemas.openxmlformats.org/drawingml/2006/main" noGrp="1"/>
          </p:cNvSpPr>
          <p:nvPr/>
        </p:nvSpPr>
        <p:spPr>
          <a:xfrm xmlns:a="http://schemas.openxmlformats.org/drawingml/2006/main">
            <a:off x="609600" y="3162300"/>
            <a:ext cx="4143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EAF4FC"/>
                </a:solidFill>
                <a:latin typeface="Geist"/>
                <a:ea typeface="Geist"/>
                <a:cs typeface="Geist"/>
              </a:defRPr>
            </a:defPPr>
          </a:lstStyle>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Healthy API targets</a:t>
            </a:r>
          </a:p>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Request rate and p95 latency</a:t>
            </a:r>
          </a:p>
          <a:p xmlns:a="http://schemas.openxmlformats.org/drawingml/2006/main">
            <a:pPr>
              <a:defRPr sz="2100" b="0">
                <a:solidFill>
                  <a:srgbClr val="EAF4FC"/>
                </a:solidFill>
                <a:latin typeface="Geist"/>
                <a:ea typeface="Geist"/>
                <a:cs typeface="Geist"/>
              </a:defRPr>
            </a:pPr>
            <a:r>
              <a:rPr sz="2100" b="0">
                <a:solidFill>
                  <a:srgbClr val="EAF4FC"/>
                </a:solidFill>
                <a:latin typeface="Geist"/>
                <a:ea typeface="Geist"/>
                <a:cs typeface="Geist"/>
              </a:rPr>
              <a:t>HTTP 5xx ratio</a:t>
            </a:r>
          </a:p>
        </p:txBody>
      </p:sp>
      <p:sp>
        <p:nvSpPr>
          <p:cNvPr id="5" name="Recorded AWS exercise.&#10;Private monitoring stack.">
            <a:extLst xmlns:a="http://schemas.openxmlformats.org/drawingml/2006/main">
              <a:ext uri="{FF2B5EF4-FFF2-40B4-BE49-F238E27FC236}">
                <a16:creationId xmlns:a16="http://schemas.microsoft.com/office/drawing/2014/main" id="{55AEE536-4B2F-4C1A-8832-4AD1412EDB8B}"/>
              </a:ext>
            </a:extLst>
          </p:cNvPr>
          <p:cNvSpPr>
            <a:spLocks xmlns:a="http://schemas.openxmlformats.org/drawingml/2006/main" noGrp="1"/>
          </p:cNvSpPr>
          <p:nvPr/>
        </p:nvSpPr>
        <p:spPr>
          <a:xfrm xmlns:a="http://schemas.openxmlformats.org/drawingml/2006/main">
            <a:off x="609600" y="5124450"/>
            <a:ext cx="4143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CABBB"/>
                </a:solidFill>
                <a:latin typeface="Geist"/>
                <a:ea typeface="Geist"/>
                <a:cs typeface="Geist"/>
              </a:defRPr>
            </a:defPPr>
          </a:lstStyle>
          <a:p xmlns:a="http://schemas.openxmlformats.org/drawingml/2006/main">
            <a:pPr>
              <a:defRPr sz="1875" b="0">
                <a:solidFill>
                  <a:srgbClr val="9CABBB"/>
                </a:solidFill>
                <a:latin typeface="Geist"/>
                <a:ea typeface="Geist"/>
                <a:cs typeface="Geist"/>
              </a:defRPr>
            </a:pPr>
            <a:r>
              <a:rPr sz="1875" b="0">
                <a:solidFill>
                  <a:srgbClr val="9CABBB"/>
                </a:solidFill>
                <a:latin typeface="Geist"/>
                <a:ea typeface="Geist"/>
                <a:cs typeface="Geist"/>
              </a:rPr>
              <a:t>Recorded AWS exercise.</a:t>
            </a:r>
          </a:p>
          <a:p xmlns:a="http://schemas.openxmlformats.org/drawingml/2006/main">
            <a:pPr>
              <a:defRPr sz="1875" b="0">
                <a:solidFill>
                  <a:srgbClr val="9CABBB"/>
                </a:solidFill>
                <a:latin typeface="Geist"/>
                <a:ea typeface="Geist"/>
                <a:cs typeface="Geist"/>
              </a:defRPr>
            </a:pPr>
            <a:r>
              <a:rPr sz="1875" b="0">
                <a:solidFill>
                  <a:srgbClr val="9CABBB"/>
                </a:solidFill>
                <a:latin typeface="Geist"/>
                <a:ea typeface="Geist"/>
                <a:cs typeface="Geist"/>
              </a:rPr>
              <a:t>Private monitoring stack.</a:t>
            </a:r>
          </a:p>
        </p:txBody>
      </p:sp>
      <p:pic>
        <p:nvPicPr>
          <p:cNvPr id="6" name="">
            <a:extLst xmlns:a="http://schemas.openxmlformats.org/drawingml/2006/main">
              <a:ext uri="{FF2B5EF4-FFF2-40B4-BE49-F238E27FC236}">
                <a16:creationId xmlns:a16="http://schemas.microsoft.com/office/drawing/2014/main" id="{18D4764B-265C-4AF3-BED3-F141936E2B2A}"/>
              </a:ext>
            </a:extLst>
          </p:cNvPr>
          <p:cNvPicPr>
            <a:picLocks xmlns:a="http://schemas.openxmlformats.org/drawingml/2006/main" noChangeAspect="1"/>
          </p:cNvPicPr>
          <p:nvPr/>
        </p:nvPicPr>
        <p:blipFill>
          <a:blip xmlns:r="http://schemas.openxmlformats.org/officeDocument/2006/relationships" xmlns:a="http://schemas.openxmlformats.org/drawingml/2006/main" r:embed="R39fc422cfd994be4"/>
          <a:stretch xmlns:a="http://schemas.openxmlformats.org/drawingml/2006/main"/>
        </p:blipFill>
        <p:spPr>
          <a:xfrm xmlns:a="http://schemas.openxmlformats.org/drawingml/2006/main">
            <a:off x="5143500" y="1937147"/>
            <a:ext cx="6438900" cy="3621881"/>
          </a:xfrm>
          <a:prstGeom xmlns:a="http://schemas.openxmlformats.org/drawingml/2006/main" prst="rect">
            <a:avLst/>
          </a:prstGeom>
        </p:spPr>
      </p:pic>
      <p:sp>
        <p:nvSpPr>
          <p:cNvPr id="7" name="Actual AWS capture / 16 October 2026.">
            <a:extLst xmlns:a="http://schemas.openxmlformats.org/drawingml/2006/main">
              <a:ext uri="{FF2B5EF4-FFF2-40B4-BE49-F238E27FC236}">
                <a16:creationId xmlns:a16="http://schemas.microsoft.com/office/drawing/2014/main" id="{3C23794D-387B-4B60-8E86-B255DF9F8528}"/>
              </a:ext>
            </a:extLst>
          </p:cNvPr>
          <p:cNvSpPr>
            <a:spLocks xmlns:a="http://schemas.openxmlformats.org/drawingml/2006/main" noGrp="1"/>
          </p:cNvSpPr>
          <p:nvPr/>
        </p:nvSpPr>
        <p:spPr>
          <a:xfrm xmlns:a="http://schemas.openxmlformats.org/drawingml/2006/main">
            <a:off x="5143500" y="6200775"/>
            <a:ext cx="6438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9CABBB"/>
                </a:solidFill>
                <a:latin typeface="Geist"/>
                <a:ea typeface="Geist"/>
                <a:cs typeface="Geist"/>
              </a:defRPr>
            </a:defPPr>
          </a:lstStyle>
          <a:p xmlns:a="http://schemas.openxmlformats.org/drawingml/2006/main">
            <a:pPr>
              <a:defRPr sz="1425" b="0">
                <a:solidFill>
                  <a:srgbClr val="9CABBB"/>
                </a:solidFill>
                <a:latin typeface="Geist"/>
                <a:ea typeface="Geist"/>
                <a:cs typeface="Geist"/>
              </a:defRPr>
            </a:pPr>
            <a:r>
              <a:rPr sz="1425" b="0">
                <a:solidFill>
                  <a:srgbClr val="9CABBB"/>
                </a:solidFill>
                <a:latin typeface="Geist"/>
                <a:ea typeface="Geist"/>
                <a:cs typeface="Geist"/>
              </a:rPr>
              <a:t>Actual AWS capture / 16 October 2026.</a:t>
            </a:r>
          </a:p>
        </p:txBody>
      </p:sp>
    </p:spTree>
    <p:extLst>
      <p:ext uri="{BB962C8B-B14F-4D97-AF65-F5344CB8AC3E}">
        <p14:creationId xmlns:p14="http://schemas.microsoft.com/office/powerpoint/2010/main" val="877020220"/>
      </p:ext>
    </p:extLst>
  </p:cSld>
</p:sld>
</file>

<file path=ppt/slides/slide12.xml><?xml version="1.0" encoding="utf-8"?>
<p:sld xmlns:p="http://schemas.openxmlformats.org/presentationml/2006/main">
  <p:cSld>
    <p:bg>
      <p:bgPr>
        <a:solidFill xmlns:a="http://schemas.openxmlformats.org/drawingml/2006/main">
          <a:srgbClr val="071019"/>
        </a:solidFill>
      </p:bgPr>
    </p:bg>
    <p:spTree>
      <p:nvGrpSpPr>
        <p:cNvPr id="1" name=""/>
        <p:cNvGrpSpPr/>
        <p:nvPr/>
      </p:nvGrpSpPr>
      <p:grpSpPr>
        <a:xfrm xmlns:a="http://schemas.openxmlformats.org/drawingml/2006/main"/>
      </p:grpSpPr>
      <p:sp>
        <p:nvSpPr>
          <p:cNvPr id="10" name="Lessons and remaining limits">
            <a:extLst xmlns:a="http://schemas.openxmlformats.org/drawingml/2006/main">
              <a:ext uri="{FF2B5EF4-FFF2-40B4-BE49-F238E27FC236}">
                <a16:creationId xmlns:a16="http://schemas.microsoft.com/office/drawing/2014/main" id="{889CD57D-D2D4-47E6-9CCA-865ECBD16BC7}"/>
              </a:ext>
            </a:extLst>
          </p:cNvPr>
          <p:cNvSpPr>
            <a:spLocks xmlns:a="http://schemas.openxmlformats.org/drawingml/2006/main" noGrp="1"/>
          </p:cNvSpPr>
          <p:nvPr/>
        </p:nvSpPr>
        <p:spPr>
          <a:xfrm xmlns:a="http://schemas.openxmlformats.org/drawingml/2006/main">
            <a:off x="609600" y="4381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EAF4FC"/>
                </a:solidFill>
                <a:latin typeface="Geist"/>
                <a:ea typeface="Geist"/>
                <a:cs typeface="Geist"/>
              </a:defRPr>
            </a:defPPr>
          </a:lstStyle>
          <a:p xmlns:a="http://schemas.openxmlformats.org/drawingml/2006/main">
            <a:pPr>
              <a:defRPr sz="3750" b="1">
                <a:solidFill>
                  <a:srgbClr val="EAF4FC"/>
                </a:solidFill>
                <a:latin typeface="Geist"/>
                <a:ea typeface="Geist"/>
                <a:cs typeface="Geist"/>
              </a:defRPr>
            </a:pPr>
            <a:r>
              <a:rPr sz="3750" b="1">
                <a:solidFill>
                  <a:srgbClr val="EAF4FC"/>
                </a:solidFill>
                <a:latin typeface="Geist"/>
                <a:ea typeface="Geist"/>
                <a:cs typeface="Geist"/>
              </a:rPr>
              <a:t>Lessons and remaining limits</a:t>
            </a:r>
          </a:p>
        </p:txBody>
      </p:sp>
      <p:sp>
        <p:nvSpPr>
          <p:cNvPr id="2" name="12">
            <a:extLst xmlns:a="http://schemas.openxmlformats.org/drawingml/2006/main">
              <a:ext uri="{FF2B5EF4-FFF2-40B4-BE49-F238E27FC236}">
                <a16:creationId xmlns:a16="http://schemas.microsoft.com/office/drawing/2014/main" id="{97D40758-48AE-4C85-841F-024F765FB025}"/>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9CABBB"/>
                </a:solidFill>
                <a:latin typeface="Geist"/>
                <a:ea typeface="Geist"/>
                <a:cs typeface="Geist"/>
              </a:defRPr>
            </a:defPPr>
          </a:lstStyle>
          <a:p xmlns:a="http://schemas.openxmlformats.org/drawingml/2006/main">
            <a:pPr algn="r">
              <a:defRPr sz="1350" b="0">
                <a:solidFill>
                  <a:srgbClr val="9CABBB"/>
                </a:solidFill>
                <a:latin typeface="Geist"/>
                <a:ea typeface="Geist"/>
                <a:cs typeface="Geist"/>
              </a:defRPr>
            </a:pPr>
            <a:r>
              <a:rPr sz="1350" b="0">
                <a:solidFill>
                  <a:srgbClr val="9CABBB"/>
                </a:solidFill>
                <a:latin typeface="Geist"/>
                <a:ea typeface="Geist"/>
                <a:cs typeface="Geist"/>
              </a:rPr>
              <a:t>12</a:t>
            </a:r>
          </a:p>
        </p:txBody>
      </p:sp>
      <p:sp>
        <p:nvSpPr>
          <p:cNvPr id="3" name="Small-host releases">
            <a:extLst xmlns:a="http://schemas.openxmlformats.org/drawingml/2006/main">
              <a:ext uri="{FF2B5EF4-FFF2-40B4-BE49-F238E27FC236}">
                <a16:creationId xmlns:a16="http://schemas.microsoft.com/office/drawing/2014/main" id="{44EEF04A-B9F4-4E1B-992E-2420A10A218F}"/>
              </a:ext>
            </a:extLst>
          </p:cNvPr>
          <p:cNvSpPr>
            <a:spLocks xmlns:a="http://schemas.openxmlformats.org/drawingml/2006/main" noGrp="1"/>
          </p:cNvSpPr>
          <p:nvPr/>
        </p:nvSpPr>
        <p:spPr>
          <a:xfrm xmlns:a="http://schemas.openxmlformats.org/drawingml/2006/main">
            <a:off x="609600" y="1647825"/>
            <a:ext cx="4476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B5DFFF"/>
                </a:solidFill>
                <a:latin typeface="Geist"/>
                <a:ea typeface="Geist"/>
                <a:cs typeface="Geist"/>
              </a:defRPr>
            </a:defPPr>
          </a:lstStyle>
          <a:p xmlns:a="http://schemas.openxmlformats.org/drawingml/2006/main">
            <a:pPr>
              <a:defRPr sz="2475" b="1">
                <a:solidFill>
                  <a:srgbClr val="B5DFFF"/>
                </a:solidFill>
                <a:latin typeface="Geist"/>
                <a:ea typeface="Geist"/>
                <a:cs typeface="Geist"/>
              </a:defRPr>
            </a:pPr>
            <a:r>
              <a:rPr sz="2475" b="1">
                <a:solidFill>
                  <a:srgbClr val="B5DFFF"/>
                </a:solidFill>
                <a:latin typeface="Geist"/>
                <a:ea typeface="Geist"/>
                <a:cs typeface="Geist"/>
              </a:rPr>
              <a:t>Small-host releases</a:t>
            </a:r>
          </a:p>
        </p:txBody>
      </p:sp>
      <p:sp>
        <p:nvSpPr>
          <p:cNvPr id="4" name="Peak deployment memory and&#10;asset consistency matter.">
            <a:extLst xmlns:a="http://schemas.openxmlformats.org/drawingml/2006/main">
              <a:ext uri="{FF2B5EF4-FFF2-40B4-BE49-F238E27FC236}">
                <a16:creationId xmlns:a16="http://schemas.microsoft.com/office/drawing/2014/main" id="{FE71D437-C78D-404C-B812-B6CF25C7A350}"/>
              </a:ext>
            </a:extLst>
          </p:cNvPr>
          <p:cNvSpPr>
            <a:spLocks xmlns:a="http://schemas.openxmlformats.org/drawingml/2006/main" noGrp="1"/>
          </p:cNvSpPr>
          <p:nvPr/>
        </p:nvSpPr>
        <p:spPr>
          <a:xfrm xmlns:a="http://schemas.openxmlformats.org/drawingml/2006/main">
            <a:off x="609600" y="226695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EAF4FC"/>
                </a:solidFill>
                <a:latin typeface="Geist"/>
                <a:ea typeface="Geist"/>
                <a:cs typeface="Geist"/>
              </a:defRPr>
            </a:defPPr>
          </a:lstStyle>
          <a:p xmlns:a="http://schemas.openxmlformats.org/drawingml/2006/main">
            <a:pPr>
              <a:defRPr sz="2175" b="0">
                <a:solidFill>
                  <a:srgbClr val="EAF4FC"/>
                </a:solidFill>
                <a:latin typeface="Geist"/>
                <a:ea typeface="Geist"/>
                <a:cs typeface="Geist"/>
              </a:defRPr>
            </a:pPr>
            <a:r>
              <a:rPr sz="2175" b="0">
                <a:solidFill>
                  <a:srgbClr val="EAF4FC"/>
                </a:solidFill>
                <a:latin typeface="Geist"/>
                <a:ea typeface="Geist"/>
                <a:cs typeface="Geist"/>
              </a:rPr>
              <a:t>Peak deployment memory and</a:t>
            </a:r>
          </a:p>
          <a:p xmlns:a="http://schemas.openxmlformats.org/drawingml/2006/main">
            <a:pPr>
              <a:defRPr sz="2175" b="0">
                <a:solidFill>
                  <a:srgbClr val="EAF4FC"/>
                </a:solidFill>
                <a:latin typeface="Geist"/>
                <a:ea typeface="Geist"/>
                <a:cs typeface="Geist"/>
              </a:defRPr>
            </a:pPr>
            <a:r>
              <a:rPr sz="2175" b="0">
                <a:solidFill>
                  <a:srgbClr val="EAF4FC"/>
                </a:solidFill>
                <a:latin typeface="Geist"/>
                <a:ea typeface="Geist"/>
                <a:cs typeface="Geist"/>
              </a:rPr>
              <a:t>asset consistency matter.</a:t>
            </a:r>
          </a:p>
        </p:txBody>
      </p:sp>
      <p:sp>
        <p:nvSpPr>
          <p:cNvPr id="5" name="Evidence stays specific">
            <a:extLst xmlns:a="http://schemas.openxmlformats.org/drawingml/2006/main">
              <a:ext uri="{FF2B5EF4-FFF2-40B4-BE49-F238E27FC236}">
                <a16:creationId xmlns:a16="http://schemas.microsoft.com/office/drawing/2014/main" id="{7635859E-9038-4BA5-BD0F-0DCECFA79A03}"/>
              </a:ext>
            </a:extLst>
          </p:cNvPr>
          <p:cNvSpPr>
            <a:spLocks xmlns:a="http://schemas.openxmlformats.org/drawingml/2006/main" noGrp="1"/>
          </p:cNvSpPr>
          <p:nvPr/>
        </p:nvSpPr>
        <p:spPr>
          <a:xfrm xmlns:a="http://schemas.openxmlformats.org/drawingml/2006/main">
            <a:off x="609600" y="3781425"/>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B5DFFF"/>
                </a:solidFill>
                <a:latin typeface="Geist"/>
                <a:ea typeface="Geist"/>
                <a:cs typeface="Geist"/>
              </a:defRPr>
            </a:defPPr>
          </a:lstStyle>
          <a:p xmlns:a="http://schemas.openxmlformats.org/drawingml/2006/main">
            <a:pPr>
              <a:defRPr sz="2475" b="1">
                <a:solidFill>
                  <a:srgbClr val="B5DFFF"/>
                </a:solidFill>
                <a:latin typeface="Geist"/>
                <a:ea typeface="Geist"/>
                <a:cs typeface="Geist"/>
              </a:defRPr>
            </a:pPr>
            <a:r>
              <a:rPr sz="2475" b="1">
                <a:solidFill>
                  <a:srgbClr val="B5DFFF"/>
                </a:solidFill>
                <a:latin typeface="Geist"/>
                <a:ea typeface="Geist"/>
                <a:cs typeface="Geist"/>
              </a:rPr>
              <a:t>Evidence stays specific</a:t>
            </a:r>
          </a:p>
        </p:txBody>
      </p:sp>
      <p:sp>
        <p:nvSpPr>
          <p:cNvPr id="6" name="Separate tests, source, deployment,&#10;and observed behavior.">
            <a:extLst xmlns:a="http://schemas.openxmlformats.org/drawingml/2006/main">
              <a:ext uri="{FF2B5EF4-FFF2-40B4-BE49-F238E27FC236}">
                <a16:creationId xmlns:a16="http://schemas.microsoft.com/office/drawing/2014/main" id="{0C5611F1-D630-4E89-A03B-BDFB243F9A9E}"/>
              </a:ext>
            </a:extLst>
          </p:cNvPr>
          <p:cNvSpPr>
            <a:spLocks xmlns:a="http://schemas.openxmlformats.org/drawingml/2006/main" noGrp="1"/>
          </p:cNvSpPr>
          <p:nvPr/>
        </p:nvSpPr>
        <p:spPr>
          <a:xfrm xmlns:a="http://schemas.openxmlformats.org/drawingml/2006/main">
            <a:off x="609600" y="4410075"/>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EAF4FC"/>
                </a:solidFill>
                <a:latin typeface="Geist"/>
                <a:ea typeface="Geist"/>
                <a:cs typeface="Geist"/>
              </a:defRPr>
            </a:defPPr>
          </a:lstStyle>
          <a:p xmlns:a="http://schemas.openxmlformats.org/drawingml/2006/main">
            <a:pPr>
              <a:defRPr sz="2175" b="0">
                <a:solidFill>
                  <a:srgbClr val="EAF4FC"/>
                </a:solidFill>
                <a:latin typeface="Geist"/>
                <a:ea typeface="Geist"/>
                <a:cs typeface="Geist"/>
              </a:defRPr>
            </a:pPr>
            <a:r>
              <a:rPr sz="2175" b="0">
                <a:solidFill>
                  <a:srgbClr val="EAF4FC"/>
                </a:solidFill>
                <a:latin typeface="Geist"/>
                <a:ea typeface="Geist"/>
                <a:cs typeface="Geist"/>
              </a:rPr>
              <a:t>Separate tests, source, deployment,</a:t>
            </a:r>
          </a:p>
          <a:p xmlns:a="http://schemas.openxmlformats.org/drawingml/2006/main">
            <a:pPr>
              <a:defRPr sz="2175" b="0">
                <a:solidFill>
                  <a:srgbClr val="EAF4FC"/>
                </a:solidFill>
                <a:latin typeface="Geist"/>
                <a:ea typeface="Geist"/>
                <a:cs typeface="Geist"/>
              </a:defRPr>
            </a:pPr>
            <a:r>
              <a:rPr sz="2175" b="0">
                <a:solidFill>
                  <a:srgbClr val="EAF4FC"/>
                </a:solidFill>
                <a:latin typeface="Geist"/>
                <a:ea typeface="Geist"/>
                <a:cs typeface="Geist"/>
              </a:rPr>
              <a:t>and observed behavior.</a:t>
            </a:r>
          </a:p>
        </p:txBody>
      </p:sp>
      <p:sp>
        <p:nvSpPr>
          <p:cNvPr id="7" name="Known limits">
            <a:extLst xmlns:a="http://schemas.openxmlformats.org/drawingml/2006/main">
              <a:ext uri="{FF2B5EF4-FFF2-40B4-BE49-F238E27FC236}">
                <a16:creationId xmlns:a16="http://schemas.microsoft.com/office/drawing/2014/main" id="{50AAC295-CB3A-44C0-9A2C-DA8BFA270853}"/>
              </a:ext>
            </a:extLst>
          </p:cNvPr>
          <p:cNvSpPr>
            <a:spLocks xmlns:a="http://schemas.openxmlformats.org/drawingml/2006/main" noGrp="1"/>
          </p:cNvSpPr>
          <p:nvPr/>
        </p:nvSpPr>
        <p:spPr>
          <a:xfrm xmlns:a="http://schemas.openxmlformats.org/drawingml/2006/main">
            <a:off x="6591300" y="1647825"/>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EBC68B"/>
                </a:solidFill>
                <a:latin typeface="Geist"/>
                <a:ea typeface="Geist"/>
                <a:cs typeface="Geist"/>
              </a:defRPr>
            </a:defPPr>
          </a:lstStyle>
          <a:p xmlns:a="http://schemas.openxmlformats.org/drawingml/2006/main">
            <a:pPr>
              <a:defRPr sz="2475" b="1">
                <a:solidFill>
                  <a:srgbClr val="EBC68B"/>
                </a:solidFill>
                <a:latin typeface="Geist"/>
                <a:ea typeface="Geist"/>
                <a:cs typeface="Geist"/>
              </a:defRPr>
            </a:pPr>
            <a:r>
              <a:rPr sz="2475" b="1">
                <a:solidFill>
                  <a:srgbClr val="EBC68B"/>
                </a:solidFill>
                <a:latin typeface="Geist"/>
                <a:ea typeface="Geist"/>
                <a:cs typeface="Geist"/>
              </a:rPr>
              <a:t>Known limits</a:t>
            </a:r>
          </a:p>
        </p:txBody>
      </p:sp>
      <p:sp>
        <p:nvSpPr>
          <p:cNvPr id="8" name="Single host and finite credits&#10;No team invitations or email ">
            <a:extLst xmlns:a="http://schemas.openxmlformats.org/drawingml/2006/main">
              <a:ext uri="{FF2B5EF4-FFF2-40B4-BE49-F238E27FC236}">
                <a16:creationId xmlns:a16="http://schemas.microsoft.com/office/drawing/2014/main" id="{5929EF7C-CC21-4A16-A483-F6D53E824132}"/>
              </a:ext>
            </a:extLst>
          </p:cNvPr>
          <p:cNvSpPr>
            <a:spLocks xmlns:a="http://schemas.openxmlformats.org/drawingml/2006/main" noGrp="1"/>
          </p:cNvSpPr>
          <p:nvPr/>
        </p:nvSpPr>
        <p:spPr>
          <a:xfrm xmlns:a="http://schemas.openxmlformats.org/drawingml/2006/main">
            <a:off x="6591300" y="2324100"/>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AF4FC"/>
                </a:solidFill>
                <a:latin typeface="Geist"/>
                <a:ea typeface="Geist"/>
                <a:cs typeface="Geist"/>
              </a:defRPr>
            </a:defPPr>
          </a:lstStyle>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Single host and finite credits</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No team invitations or email recovery</a:t>
            </a:r>
          </a:p>
          <a:p xmlns:a="http://schemas.openxmlformats.org/drawingml/2006/main">
            <a:pPr>
              <a:defRPr sz="2025" b="0">
                <a:solidFill>
                  <a:srgbClr val="EAF4FC"/>
                </a:solidFill>
                <a:latin typeface="Geist"/>
                <a:ea typeface="Geist"/>
                <a:cs typeface="Geist"/>
              </a:defRPr>
            </a:pPr>
            <a:r>
              <a:rPr sz="2025" b="0">
                <a:solidFill>
                  <a:srgbClr val="EAF4FC"/>
                </a:solidFill>
                <a:latin typeface="Geist"/>
                <a:ea typeface="Geist"/>
                <a:cs typeface="Geist"/>
              </a:rPr>
              <a:t>EKS apply / destroy unverified</a:t>
            </a:r>
          </a:p>
        </p:txBody>
      </p:sp>
      <p:sp>
        <p:nvSpPr>
          <p:cNvPr id="9" name="github.com/ReaperXD67/vigil">
            <a:extLst xmlns:a="http://schemas.openxmlformats.org/drawingml/2006/main">
              <a:ext uri="{FF2B5EF4-FFF2-40B4-BE49-F238E27FC236}">
                <a16:creationId xmlns:a16="http://schemas.microsoft.com/office/drawing/2014/main" id="{B426A04F-8587-4CDF-865D-ED45BF0717E3}"/>
              </a:ext>
            </a:extLst>
          </p:cNvPr>
          <p:cNvSpPr>
            <a:spLocks xmlns:a="http://schemas.openxmlformats.org/drawingml/2006/main" noGrp="1"/>
          </p:cNvSpPr>
          <p:nvPr/>
        </p:nvSpPr>
        <p:spPr>
          <a:xfrm xmlns:a="http://schemas.openxmlformats.org/drawingml/2006/main">
            <a:off x="609600" y="59626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EAF4FC"/>
                </a:solidFill>
                <a:latin typeface="Geist"/>
                <a:ea typeface="Geist"/>
                <a:cs typeface="Geist"/>
              </a:defRPr>
            </a:defPPr>
          </a:lstStyle>
          <a:p xmlns:a="http://schemas.openxmlformats.org/drawingml/2006/main">
            <a:pPr>
              <a:defRPr sz="1950" b="1">
                <a:solidFill>
                  <a:srgbClr val="EAF4FC"/>
                </a:solidFill>
                <a:latin typeface="Geist"/>
                <a:ea typeface="Geist"/>
                <a:cs typeface="Geist"/>
              </a:defRPr>
            </a:pPr>
            <a:r>
              <a:rPr sz="1950" b="1">
                <a:solidFill>
                  <a:srgbClr val="EAF4FC"/>
                </a:solidFill>
                <a:latin typeface="Geist"/>
                <a:ea typeface="Geist"/>
                <a:cs typeface="Geist"/>
              </a:rPr>
              <a:t>github.com/ReaperXD67/vigil</a:t>
            </a:r>
          </a:p>
        </p:txBody>
      </p:sp>
    </p:spTree>
    <p:extLst>
      <p:ext uri="{BB962C8B-B14F-4D97-AF65-F5344CB8AC3E}">
        <p14:creationId xmlns:p14="http://schemas.microsoft.com/office/powerpoint/2010/main" val="257621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2026-10-16T13:49:24.9790000Z</dcterms:created>
  <dcterms:modified xsi:type="dcterms:W3CDTF">2026-10-16T13:49:24.9790000Z</dcterms:modified>
</coreProperties>
</file>